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6"/>
  </p:notesMasterIdLst>
  <p:sldIdLst>
    <p:sldId id="256" r:id="rId2"/>
    <p:sldId id="257" r:id="rId3"/>
    <p:sldId id="258" r:id="rId4"/>
    <p:sldId id="259" r:id="rId5"/>
    <p:sldId id="269" r:id="rId6"/>
    <p:sldId id="270" r:id="rId7"/>
    <p:sldId id="261" r:id="rId8"/>
    <p:sldId id="262" r:id="rId9"/>
    <p:sldId id="263" r:id="rId10"/>
    <p:sldId id="271" r:id="rId11"/>
    <p:sldId id="264" r:id="rId12"/>
    <p:sldId id="265" r:id="rId13"/>
    <p:sldId id="266" r:id="rId14"/>
    <p:sldId id="267" r:id="rId15"/>
  </p:sldIdLst>
  <p:sldSz cx="14630400" cy="8229600"/>
  <p:notesSz cx="8229600" cy="14630400"/>
  <p:embeddedFontLst>
    <p:embeddedFont>
      <p:font typeface="Host Grotesk Medium" panose="020B0604020202020204" charset="0"/>
      <p:regular r:id="rId17"/>
    </p:embeddedFont>
    <p:embeddedFont>
      <p:font typeface="Roboto" panose="02000000000000000000" pitchFamily="2" charset="0"/>
      <p:regular r:id="rId18"/>
      <p:bold r:id="rId19"/>
      <p:italic r:id="rId20"/>
      <p:boldItalic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53" d="100"/>
          <a:sy n="53" d="100"/>
        </p:scale>
        <p:origin x="748"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922354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report presents a comprehensive analysis of global mental health trends and the key factors influencing them.
The visual depicts a stylized brain with interconnected nodes, representing the data and AI-driven insights at the core of our analysis.
Surrounding the brain are subtle human silhouettes, conveying the global, human-centric nature of this mental health study.
Our goal is to uncover valuable insights that can inform policies, programs, and initiatives to support mental wellbeing worldwide.
I'll walk through the key findings and recommendations from this in-depth analysis.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5.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Layout" Target="../slideLayouts/slideLayout5.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png"/><Relationship Id="rId10" Type="http://schemas.openxmlformats.org/officeDocument/2006/relationships/image" Target="../media/image23.png"/><Relationship Id="rId4" Type="http://schemas.openxmlformats.org/officeDocument/2006/relationships/image" Target="../media/image17.png"/><Relationship Id="rId9" Type="http://schemas.openxmlformats.org/officeDocument/2006/relationships/image" Target="../media/image22.png"/></Relationships>
</file>

<file path=ppt/slides/_rels/slide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25.png"/></Relationships>
</file>

<file path=ppt/slides/_rels/slide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7.xml"/><Relationship Id="rId1" Type="http://schemas.openxmlformats.org/officeDocument/2006/relationships/slideLayout" Target="../slideLayouts/slideLayout9.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9.xml"/><Relationship Id="rId4" Type="http://schemas.openxmlformats.org/officeDocument/2006/relationships/image" Target="../media/image32.png"/></Relationships>
</file>

<file path=ppt/slides/_rels/slide1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8.xml"/><Relationship Id="rId1" Type="http://schemas.openxmlformats.org/officeDocument/2006/relationships/slideLayout" Target="../slideLayouts/slideLayout10.xml"/><Relationship Id="rId4" Type="http://schemas.openxmlformats.org/officeDocument/2006/relationships/image" Target="../media/image34.jpe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760720" cy="8229600"/>
          </a:xfrm>
          <a:prstGeom prst="rect">
            <a:avLst/>
          </a:prstGeom>
        </p:spPr>
      </p:pic>
      <p:sp>
        <p:nvSpPr>
          <p:cNvPr id="3" name="Text 0"/>
          <p:cNvSpPr/>
          <p:nvPr/>
        </p:nvSpPr>
        <p:spPr>
          <a:xfrm>
            <a:off x="6280190" y="2895719"/>
            <a:ext cx="7556421" cy="1417558"/>
          </a:xfrm>
          <a:prstGeom prst="rect">
            <a:avLst/>
          </a:prstGeom>
          <a:noFill/>
          <a:ln/>
        </p:spPr>
        <p:txBody>
          <a:bodyPr wrap="square" lIns="0" tIns="0" rIns="0" bIns="0" rtlCol="0" anchor="t"/>
          <a:lstStyle/>
          <a:p>
            <a:pPr marL="0" indent="0" algn="l">
              <a:lnSpc>
                <a:spcPts val="5550"/>
              </a:lnSpc>
              <a:buNone/>
            </a:pPr>
            <a:r>
              <a:rPr lang="en-US" sz="4800" dirty="0">
                <a:solidFill>
                  <a:srgbClr val="2E3C4E"/>
                </a:solidFill>
                <a:latin typeface="Host Grotesk Medium" pitchFamily="34" charset="0"/>
                <a:ea typeface="Host Grotesk Medium" pitchFamily="34" charset="-122"/>
                <a:cs typeface="Host Grotesk Medium" pitchFamily="34" charset="-120"/>
              </a:rPr>
              <a:t>Mental Health Data Analysis</a:t>
            </a:r>
            <a:endParaRPr lang="en-US" sz="4800" dirty="0"/>
          </a:p>
        </p:txBody>
      </p:sp>
      <p:sp>
        <p:nvSpPr>
          <p:cNvPr id="4" name="Text 1"/>
          <p:cNvSpPr/>
          <p:nvPr/>
        </p:nvSpPr>
        <p:spPr>
          <a:xfrm>
            <a:off x="6280190" y="4653439"/>
            <a:ext cx="7556421" cy="2488766"/>
          </a:xfrm>
          <a:prstGeom prst="rect">
            <a:avLst/>
          </a:prstGeom>
          <a:noFill/>
          <a:ln/>
        </p:spPr>
        <p:txBody>
          <a:bodyPr wrap="square" lIns="0" tIns="0" rIns="0" bIns="0" rtlCol="0" anchor="t"/>
          <a:lstStyle/>
          <a:p>
            <a:pPr marL="0" indent="0" algn="l">
              <a:lnSpc>
                <a:spcPts val="2650"/>
              </a:lnSpc>
              <a:buNone/>
            </a:pPr>
            <a:r>
              <a:rPr lang="en-US" sz="1750" dirty="0">
                <a:solidFill>
                  <a:srgbClr val="384653"/>
                </a:solidFill>
                <a:latin typeface="Roboto" pitchFamily="34" charset="0"/>
                <a:ea typeface="Roboto" pitchFamily="34" charset="-122"/>
                <a:cs typeface="Roboto" pitchFamily="34" charset="-120"/>
              </a:rPr>
              <a:t>An Analytical Study on Global Mental Health Trends and Influencing Factors</a:t>
            </a:r>
          </a:p>
          <a:p>
            <a:pPr marL="0" indent="0" algn="l">
              <a:lnSpc>
                <a:spcPts val="2650"/>
              </a:lnSpc>
              <a:buNone/>
            </a:pPr>
            <a:endParaRPr lang="en-US" sz="1750" dirty="0">
              <a:solidFill>
                <a:srgbClr val="384653"/>
              </a:solidFill>
              <a:latin typeface="Roboto" pitchFamily="34" charset="0"/>
              <a:ea typeface="Roboto" pitchFamily="34" charset="-122"/>
              <a:cs typeface="Roboto" pitchFamily="34" charset="-120"/>
            </a:endParaRPr>
          </a:p>
          <a:p>
            <a:pPr marL="0" indent="0" algn="l">
              <a:lnSpc>
                <a:spcPts val="2650"/>
              </a:lnSpc>
              <a:buNone/>
            </a:pPr>
            <a:endParaRPr lang="en-US" sz="1750" dirty="0">
              <a:solidFill>
                <a:srgbClr val="384653"/>
              </a:solidFill>
              <a:latin typeface="Roboto" pitchFamily="34" charset="0"/>
              <a:ea typeface="Roboto" pitchFamily="34" charset="-122"/>
              <a:cs typeface="Roboto" pitchFamily="34" charset="-120"/>
            </a:endParaRPr>
          </a:p>
          <a:p>
            <a:pPr marL="0" indent="0" algn="l">
              <a:lnSpc>
                <a:spcPts val="2650"/>
              </a:lnSpc>
              <a:buNone/>
            </a:pPr>
            <a:endParaRPr lang="en-US" sz="1750" dirty="0">
              <a:solidFill>
                <a:srgbClr val="384653"/>
              </a:solidFill>
              <a:latin typeface="Roboto" pitchFamily="34" charset="0"/>
              <a:ea typeface="Roboto" pitchFamily="34" charset="-122"/>
              <a:cs typeface="Roboto" pitchFamily="34" charset="-120"/>
            </a:endParaRPr>
          </a:p>
          <a:p>
            <a:pPr marL="0" indent="0" algn="l">
              <a:lnSpc>
                <a:spcPts val="2650"/>
              </a:lnSpc>
              <a:buNone/>
            </a:pPr>
            <a:r>
              <a:rPr lang="en-US" sz="3200" dirty="0">
                <a:solidFill>
                  <a:srgbClr val="384653"/>
                </a:solidFill>
                <a:latin typeface="Roboto" pitchFamily="34" charset="0"/>
                <a:ea typeface="Roboto" pitchFamily="34" charset="-122"/>
                <a:cs typeface="Roboto" pitchFamily="34" charset="-120"/>
              </a:rPr>
              <a:t>BY </a:t>
            </a:r>
            <a:r>
              <a:rPr lang="en-US" sz="3200">
                <a:solidFill>
                  <a:srgbClr val="384653"/>
                </a:solidFill>
                <a:latin typeface="Roboto" pitchFamily="34" charset="0"/>
                <a:ea typeface="Roboto" pitchFamily="34" charset="-122"/>
                <a:cs typeface="Roboto" pitchFamily="34" charset="-120"/>
              </a:rPr>
              <a:t>: Aastha</a:t>
            </a:r>
          </a:p>
          <a:p>
            <a:pPr marL="0" indent="0" algn="l">
              <a:lnSpc>
                <a:spcPts val="2650"/>
              </a:lnSpc>
              <a:buNone/>
            </a:pPr>
            <a:endParaRPr lang="en-US" sz="3200" dirty="0"/>
          </a:p>
        </p:txBody>
      </p:sp>
      <p:sp>
        <p:nvSpPr>
          <p:cNvPr id="5" name="Rectangle: Rounded Corners 4">
            <a:extLst>
              <a:ext uri="{FF2B5EF4-FFF2-40B4-BE49-F238E27FC236}">
                <a16:creationId xmlns:a16="http://schemas.microsoft.com/office/drawing/2014/main" id="{10DFBDA4-957F-DB5B-86AD-3882CFE9201E}"/>
              </a:ext>
            </a:extLst>
          </p:cNvPr>
          <p:cNvSpPr/>
          <p:nvPr/>
        </p:nvSpPr>
        <p:spPr>
          <a:xfrm>
            <a:off x="12827132" y="7718156"/>
            <a:ext cx="1679282" cy="371959"/>
          </a:xfrm>
          <a:prstGeom prst="roundRect">
            <a:avLst/>
          </a:prstGeom>
          <a:ln>
            <a:solidFill>
              <a:schemeClr val="bg1">
                <a:lumMod val="85000"/>
              </a:schemeClr>
            </a:solidFill>
          </a:ln>
        </p:spPr>
        <p:style>
          <a:lnRef idx="2">
            <a:schemeClr val="accent1">
              <a:shade val="15000"/>
            </a:schemeClr>
          </a:lnRef>
          <a:fillRef idx="1001">
            <a:schemeClr val="lt2"/>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937022"/>
            <a:ext cx="4536519" cy="566976"/>
          </a:xfrm>
          <a:prstGeom prst="rect">
            <a:avLst/>
          </a:prstGeom>
          <a:noFill/>
          <a:ln/>
        </p:spPr>
        <p:txBody>
          <a:bodyPr wrap="none" lIns="0" tIns="0" rIns="0" bIns="0" rtlCol="0" anchor="t"/>
          <a:lstStyle/>
          <a:p>
            <a:pPr marL="0" indent="0" algn="l">
              <a:lnSpc>
                <a:spcPts val="4450"/>
              </a:lnSpc>
              <a:buNone/>
            </a:pPr>
            <a:r>
              <a:rPr lang="en-US" sz="3550" dirty="0">
                <a:solidFill>
                  <a:srgbClr val="2E3C4E"/>
                </a:solidFill>
                <a:latin typeface="Host Grotesk Medium" pitchFamily="34" charset="0"/>
                <a:ea typeface="Host Grotesk Medium" pitchFamily="34" charset="-122"/>
                <a:cs typeface="Host Grotesk Medium" pitchFamily="34" charset="-120"/>
              </a:rPr>
              <a:t>Introduction</a:t>
            </a:r>
            <a:endParaRPr lang="en-US" sz="3550" dirty="0"/>
          </a:p>
        </p:txBody>
      </p:sp>
      <p:sp>
        <p:nvSpPr>
          <p:cNvPr id="3" name="Text 1"/>
          <p:cNvSpPr/>
          <p:nvPr/>
        </p:nvSpPr>
        <p:spPr>
          <a:xfrm>
            <a:off x="793790" y="1730812"/>
            <a:ext cx="7515820" cy="708779"/>
          </a:xfrm>
          <a:prstGeom prst="rect">
            <a:avLst/>
          </a:prstGeom>
          <a:noFill/>
          <a:ln/>
        </p:spPr>
        <p:txBody>
          <a:bodyPr wrap="none" lIns="0" tIns="0" rIns="0" bIns="0" rtlCol="0" anchor="t"/>
          <a:lstStyle/>
          <a:p>
            <a:pPr marL="0" indent="0" algn="l">
              <a:lnSpc>
                <a:spcPts val="5550"/>
              </a:lnSpc>
              <a:buNone/>
            </a:pPr>
            <a:r>
              <a:rPr lang="en-US" sz="4450" dirty="0">
                <a:solidFill>
                  <a:srgbClr val="2E3C4E"/>
                </a:solidFill>
                <a:latin typeface="Host Grotesk Medium" pitchFamily="34" charset="0"/>
                <a:ea typeface="Host Grotesk Medium" pitchFamily="34" charset="-122"/>
                <a:cs typeface="Host Grotesk Medium" pitchFamily="34" charset="-120"/>
              </a:rPr>
              <a:t>Understanding Mental Health</a:t>
            </a:r>
            <a:endParaRPr lang="en-US" sz="4450" dirty="0"/>
          </a:p>
        </p:txBody>
      </p:sp>
      <p:sp>
        <p:nvSpPr>
          <p:cNvPr id="4" name="Text 2"/>
          <p:cNvSpPr/>
          <p:nvPr/>
        </p:nvSpPr>
        <p:spPr>
          <a:xfrm>
            <a:off x="793790" y="2779752"/>
            <a:ext cx="13042821" cy="1360646"/>
          </a:xfrm>
          <a:prstGeom prst="rect">
            <a:avLst/>
          </a:prstGeom>
          <a:noFill/>
          <a:ln/>
        </p:spPr>
        <p:txBody>
          <a:bodyPr wrap="square" lIns="0" tIns="0" rIns="0" bIns="0" rtlCol="0" anchor="t"/>
          <a:lstStyle/>
          <a:p>
            <a:pPr marL="0" indent="0" algn="l">
              <a:lnSpc>
                <a:spcPts val="2650"/>
              </a:lnSpc>
              <a:buNone/>
            </a:pPr>
            <a:r>
              <a:rPr lang="en-US" sz="1750" dirty="0">
                <a:solidFill>
                  <a:srgbClr val="384653"/>
                </a:solidFill>
                <a:latin typeface="Roboto" pitchFamily="34" charset="0"/>
                <a:ea typeface="Roboto" pitchFamily="34" charset="-122"/>
                <a:cs typeface="Roboto" pitchFamily="34" charset="-120"/>
              </a:rPr>
              <a:t>Mental health, encompassing emotional, psychological, and social well-being, is a critical global concern. It influences how individuals think, feel, and act, affecting stress management, relationships, and decision-making. A positive state of mental health allows individuals to realize their full potential, cope with life's stresses, work productively, and contribute meaningfully to their communities.</a:t>
            </a:r>
            <a:endParaRPr lang="en-US" sz="1750" dirty="0"/>
          </a:p>
        </p:txBody>
      </p:sp>
      <p:sp>
        <p:nvSpPr>
          <p:cNvPr id="5" name="Text 3"/>
          <p:cNvSpPr/>
          <p:nvPr/>
        </p:nvSpPr>
        <p:spPr>
          <a:xfrm>
            <a:off x="793790" y="4395549"/>
            <a:ext cx="13042821" cy="1360646"/>
          </a:xfrm>
          <a:prstGeom prst="rect">
            <a:avLst/>
          </a:prstGeom>
          <a:noFill/>
          <a:ln/>
        </p:spPr>
        <p:txBody>
          <a:bodyPr wrap="square" lIns="0" tIns="0" rIns="0" bIns="0" rtlCol="0" anchor="t"/>
          <a:lstStyle/>
          <a:p>
            <a:pPr marL="0" indent="0" algn="l">
              <a:lnSpc>
                <a:spcPts val="2650"/>
              </a:lnSpc>
              <a:buNone/>
            </a:pPr>
            <a:r>
              <a:rPr lang="en-US" sz="1750" dirty="0">
                <a:solidFill>
                  <a:srgbClr val="384653"/>
                </a:solidFill>
                <a:latin typeface="Roboto" pitchFamily="34" charset="0"/>
                <a:ea typeface="Roboto" pitchFamily="34" charset="-122"/>
                <a:cs typeface="Roboto" pitchFamily="34" charset="-120"/>
              </a:rPr>
              <a:t>Despite its profound impact on individual lives and societal progress, mental health has historically been overlooked or stigmatized. However, there's a growing recognition of its integral role in overall health, productivity, and quality of life. Understanding the multifaceted nature of mental health is the first step towards developing effective strategies for prevention, intervention, and support.</a:t>
            </a:r>
            <a:endParaRPr lang="en-US" sz="1750" dirty="0"/>
          </a:p>
        </p:txBody>
      </p:sp>
      <p:sp>
        <p:nvSpPr>
          <p:cNvPr id="6" name="Shape 4"/>
          <p:cNvSpPr/>
          <p:nvPr/>
        </p:nvSpPr>
        <p:spPr>
          <a:xfrm>
            <a:off x="793790" y="6011347"/>
            <a:ext cx="13042821" cy="1281232"/>
          </a:xfrm>
          <a:prstGeom prst="roundRect">
            <a:avLst>
              <a:gd name="adj" fmla="val 7436"/>
            </a:avLst>
          </a:prstGeom>
          <a:solidFill>
            <a:srgbClr val="B6D6FC"/>
          </a:solidFill>
          <a:ln/>
        </p:spPr>
      </p:sp>
      <p:pic>
        <p:nvPicPr>
          <p:cNvPr id="7" name="Image 0" descr="preencoded.png"/>
          <p:cNvPicPr>
            <a:picLocks noChangeAspect="1"/>
          </p:cNvPicPr>
          <p:nvPr/>
        </p:nvPicPr>
        <p:blipFill>
          <a:blip r:embed="rId3"/>
          <a:stretch>
            <a:fillRect/>
          </a:stretch>
        </p:blipFill>
        <p:spPr>
          <a:xfrm>
            <a:off x="1020604" y="6340197"/>
            <a:ext cx="283488" cy="226814"/>
          </a:xfrm>
          <a:prstGeom prst="rect">
            <a:avLst/>
          </a:prstGeom>
        </p:spPr>
      </p:pic>
      <p:sp>
        <p:nvSpPr>
          <p:cNvPr id="8" name="Text 5"/>
          <p:cNvSpPr/>
          <p:nvPr/>
        </p:nvSpPr>
        <p:spPr>
          <a:xfrm>
            <a:off x="1530906" y="6294834"/>
            <a:ext cx="12078891" cy="680323"/>
          </a:xfrm>
          <a:prstGeom prst="rect">
            <a:avLst/>
          </a:prstGeom>
          <a:noFill/>
          <a:ln/>
        </p:spPr>
        <p:txBody>
          <a:bodyPr wrap="square" lIns="0" tIns="0" rIns="0" bIns="0" rtlCol="0" anchor="t"/>
          <a:lstStyle/>
          <a:p>
            <a:pPr marL="0" indent="0" algn="l">
              <a:lnSpc>
                <a:spcPts val="2650"/>
              </a:lnSpc>
              <a:buNone/>
            </a:pPr>
            <a:r>
              <a:rPr lang="en-US" sz="1750" dirty="0">
                <a:solidFill>
                  <a:srgbClr val="000000"/>
                </a:solidFill>
                <a:latin typeface="Roboto" pitchFamily="34" charset="0"/>
                <a:ea typeface="Roboto" pitchFamily="34" charset="-122"/>
                <a:cs typeface="Roboto" pitchFamily="34" charset="-120"/>
              </a:rPr>
              <a:t>According to the WHO, </a:t>
            </a:r>
            <a:r>
              <a:rPr lang="en-US" sz="1750" b="1" dirty="0">
                <a:solidFill>
                  <a:srgbClr val="000000"/>
                </a:solidFill>
                <a:latin typeface="Roboto" pitchFamily="34" charset="0"/>
                <a:ea typeface="Roboto" pitchFamily="34" charset="-122"/>
                <a:cs typeface="Roboto" pitchFamily="34" charset="-120"/>
              </a:rPr>
              <a:t>one in eight people globally lives with a mental disorder</a:t>
            </a:r>
            <a:r>
              <a:rPr lang="en-US" sz="1750" dirty="0">
                <a:solidFill>
                  <a:srgbClr val="000000"/>
                </a:solidFill>
                <a:latin typeface="Roboto" pitchFamily="34" charset="0"/>
                <a:ea typeface="Roboto" pitchFamily="34" charset="-122"/>
                <a:cs typeface="Roboto" pitchFamily="34" charset="-120"/>
              </a:rPr>
              <a:t>, highlighting the urgent need for proactive strategies and interventions.</a:t>
            </a:r>
            <a:endParaRPr lang="en-US" sz="1750" dirty="0"/>
          </a:p>
        </p:txBody>
      </p:sp>
      <p:sp>
        <p:nvSpPr>
          <p:cNvPr id="9" name="Rectangle: Rounded Corners 8">
            <a:extLst>
              <a:ext uri="{FF2B5EF4-FFF2-40B4-BE49-F238E27FC236}">
                <a16:creationId xmlns:a16="http://schemas.microsoft.com/office/drawing/2014/main" id="{FC472290-C746-E4A2-CD11-F45A841E40EA}"/>
              </a:ext>
            </a:extLst>
          </p:cNvPr>
          <p:cNvSpPr/>
          <p:nvPr/>
        </p:nvSpPr>
        <p:spPr>
          <a:xfrm>
            <a:off x="12827132" y="7718156"/>
            <a:ext cx="1679282" cy="371959"/>
          </a:xfrm>
          <a:prstGeom prst="roundRect">
            <a:avLst/>
          </a:prstGeom>
          <a:ln>
            <a:solidFill>
              <a:schemeClr val="bg1">
                <a:lumMod val="85000"/>
              </a:schemeClr>
            </a:solidFill>
          </a:ln>
        </p:spPr>
        <p:style>
          <a:lnRef idx="2">
            <a:schemeClr val="accent1">
              <a:shade val="15000"/>
            </a:schemeClr>
          </a:lnRef>
          <a:fillRef idx="1001">
            <a:schemeClr val="lt2"/>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734860"/>
            <a:ext cx="6903482" cy="708779"/>
          </a:xfrm>
          <a:prstGeom prst="rect">
            <a:avLst/>
          </a:prstGeom>
          <a:noFill/>
          <a:ln/>
        </p:spPr>
        <p:txBody>
          <a:bodyPr wrap="none" lIns="0" tIns="0" rIns="0" bIns="0" rtlCol="0" anchor="t"/>
          <a:lstStyle/>
          <a:p>
            <a:pPr marL="0" indent="0" algn="l">
              <a:lnSpc>
                <a:spcPts val="5550"/>
              </a:lnSpc>
              <a:buNone/>
            </a:pPr>
            <a:r>
              <a:rPr lang="en-US" sz="4450" dirty="0">
                <a:solidFill>
                  <a:srgbClr val="2E3C4E"/>
                </a:solidFill>
                <a:latin typeface="Host Grotesk Medium" pitchFamily="34" charset="0"/>
                <a:ea typeface="Host Grotesk Medium" pitchFamily="34" charset="-122"/>
                <a:cs typeface="Host Grotesk Medium" pitchFamily="34" charset="-120"/>
              </a:rPr>
              <a:t>Why Study Mental Health?</a:t>
            </a:r>
            <a:endParaRPr lang="en-US" sz="4450" dirty="0"/>
          </a:p>
        </p:txBody>
      </p:sp>
      <p:sp>
        <p:nvSpPr>
          <p:cNvPr id="3" name="Shape 1"/>
          <p:cNvSpPr/>
          <p:nvPr/>
        </p:nvSpPr>
        <p:spPr>
          <a:xfrm>
            <a:off x="793790" y="2897267"/>
            <a:ext cx="6407944" cy="1685330"/>
          </a:xfrm>
          <a:prstGeom prst="roundRect">
            <a:avLst>
              <a:gd name="adj" fmla="val 8681"/>
            </a:avLst>
          </a:prstGeom>
          <a:solidFill>
            <a:srgbClr val="FAF9F5"/>
          </a:solidFill>
          <a:ln w="30480">
            <a:solidFill>
              <a:srgbClr val="BFD3D8"/>
            </a:solidFill>
            <a:prstDash val="solid"/>
          </a:ln>
        </p:spPr>
      </p:sp>
      <p:pic>
        <p:nvPicPr>
          <p:cNvPr id="4" name="Image 0" descr="preencoded.png"/>
          <p:cNvPicPr>
            <a:picLocks noChangeAspect="1"/>
          </p:cNvPicPr>
          <p:nvPr/>
        </p:nvPicPr>
        <p:blipFill>
          <a:blip r:embed="rId3"/>
          <a:stretch>
            <a:fillRect/>
          </a:stretch>
        </p:blipFill>
        <p:spPr>
          <a:xfrm>
            <a:off x="763310" y="2897267"/>
            <a:ext cx="121920" cy="1685330"/>
          </a:xfrm>
          <a:prstGeom prst="rect">
            <a:avLst/>
          </a:prstGeom>
        </p:spPr>
      </p:pic>
      <p:sp>
        <p:nvSpPr>
          <p:cNvPr id="5" name="Text 2"/>
          <p:cNvSpPr/>
          <p:nvPr/>
        </p:nvSpPr>
        <p:spPr>
          <a:xfrm>
            <a:off x="1142524" y="3154561"/>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384653"/>
                </a:solidFill>
                <a:latin typeface="Host Grotesk Medium" pitchFamily="34" charset="0"/>
                <a:ea typeface="Host Grotesk Medium" pitchFamily="34" charset="-122"/>
                <a:cs typeface="Host Grotesk Medium" pitchFamily="34" charset="-120"/>
              </a:rPr>
              <a:t>Overall Well-being</a:t>
            </a:r>
            <a:endParaRPr lang="en-US" sz="2200" dirty="0"/>
          </a:p>
        </p:txBody>
      </p:sp>
      <p:sp>
        <p:nvSpPr>
          <p:cNvPr id="6" name="Text 3"/>
          <p:cNvSpPr/>
          <p:nvPr/>
        </p:nvSpPr>
        <p:spPr>
          <a:xfrm>
            <a:off x="1142524" y="3644979"/>
            <a:ext cx="5801916" cy="680323"/>
          </a:xfrm>
          <a:prstGeom prst="rect">
            <a:avLst/>
          </a:prstGeom>
          <a:noFill/>
          <a:ln/>
        </p:spPr>
        <p:txBody>
          <a:bodyPr wrap="square" lIns="0" tIns="0" rIns="0" bIns="0" rtlCol="0" anchor="t"/>
          <a:lstStyle/>
          <a:p>
            <a:pPr marL="0" indent="0" algn="l">
              <a:lnSpc>
                <a:spcPts val="2650"/>
              </a:lnSpc>
              <a:buNone/>
            </a:pPr>
            <a:r>
              <a:rPr lang="en-US" sz="1750" dirty="0">
                <a:solidFill>
                  <a:srgbClr val="384653"/>
                </a:solidFill>
                <a:latin typeface="Roboto" pitchFamily="34" charset="0"/>
                <a:ea typeface="Roboto" pitchFamily="34" charset="-122"/>
                <a:cs typeface="Roboto" pitchFamily="34" charset="-120"/>
              </a:rPr>
              <a:t>Essential for daily functioning, decision-making, relationships, and productivity.</a:t>
            </a:r>
            <a:endParaRPr lang="en-US" sz="1750" dirty="0"/>
          </a:p>
        </p:txBody>
      </p:sp>
      <p:sp>
        <p:nvSpPr>
          <p:cNvPr id="7" name="Shape 4"/>
          <p:cNvSpPr/>
          <p:nvPr/>
        </p:nvSpPr>
        <p:spPr>
          <a:xfrm>
            <a:off x="7428548" y="2897267"/>
            <a:ext cx="6408063" cy="1685330"/>
          </a:xfrm>
          <a:prstGeom prst="roundRect">
            <a:avLst>
              <a:gd name="adj" fmla="val 8681"/>
            </a:avLst>
          </a:prstGeom>
          <a:solidFill>
            <a:srgbClr val="FAF9F5"/>
          </a:solidFill>
          <a:ln w="30480">
            <a:solidFill>
              <a:srgbClr val="BFD3D8"/>
            </a:solidFill>
            <a:prstDash val="solid"/>
          </a:ln>
        </p:spPr>
      </p:sp>
      <p:pic>
        <p:nvPicPr>
          <p:cNvPr id="8" name="Image 1" descr="preencoded.png"/>
          <p:cNvPicPr>
            <a:picLocks noChangeAspect="1"/>
          </p:cNvPicPr>
          <p:nvPr/>
        </p:nvPicPr>
        <p:blipFill>
          <a:blip r:embed="rId3"/>
          <a:stretch>
            <a:fillRect/>
          </a:stretch>
        </p:blipFill>
        <p:spPr>
          <a:xfrm>
            <a:off x="7398067" y="2897267"/>
            <a:ext cx="121920" cy="1685330"/>
          </a:xfrm>
          <a:prstGeom prst="rect">
            <a:avLst/>
          </a:prstGeom>
        </p:spPr>
      </p:pic>
      <p:sp>
        <p:nvSpPr>
          <p:cNvPr id="9" name="Text 5"/>
          <p:cNvSpPr/>
          <p:nvPr/>
        </p:nvSpPr>
        <p:spPr>
          <a:xfrm>
            <a:off x="7777282" y="3154561"/>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384653"/>
                </a:solidFill>
                <a:latin typeface="Host Grotesk Medium" pitchFamily="34" charset="0"/>
                <a:ea typeface="Host Grotesk Medium" pitchFamily="34" charset="-122"/>
                <a:cs typeface="Host Grotesk Medium" pitchFamily="34" charset="-120"/>
              </a:rPr>
              <a:t>Early Detection</a:t>
            </a:r>
            <a:endParaRPr lang="en-US" sz="2200" dirty="0"/>
          </a:p>
        </p:txBody>
      </p:sp>
      <p:sp>
        <p:nvSpPr>
          <p:cNvPr id="10" name="Text 6"/>
          <p:cNvSpPr/>
          <p:nvPr/>
        </p:nvSpPr>
        <p:spPr>
          <a:xfrm>
            <a:off x="7777282" y="3644979"/>
            <a:ext cx="5802035" cy="680323"/>
          </a:xfrm>
          <a:prstGeom prst="rect">
            <a:avLst/>
          </a:prstGeom>
          <a:noFill/>
          <a:ln/>
        </p:spPr>
        <p:txBody>
          <a:bodyPr wrap="square" lIns="0" tIns="0" rIns="0" bIns="0" rtlCol="0" anchor="t"/>
          <a:lstStyle/>
          <a:p>
            <a:pPr marL="0" indent="0" algn="l">
              <a:lnSpc>
                <a:spcPts val="2650"/>
              </a:lnSpc>
              <a:buNone/>
            </a:pPr>
            <a:r>
              <a:rPr lang="en-US" sz="1750" dirty="0">
                <a:solidFill>
                  <a:srgbClr val="384653"/>
                </a:solidFill>
                <a:latin typeface="Roboto" pitchFamily="34" charset="0"/>
                <a:ea typeface="Roboto" pitchFamily="34" charset="-122"/>
                <a:cs typeface="Roboto" pitchFamily="34" charset="-120"/>
              </a:rPr>
              <a:t>Helps understand root causes, identify patterns, and enable early detection and intervention.</a:t>
            </a:r>
            <a:endParaRPr lang="en-US" sz="1750" dirty="0"/>
          </a:p>
        </p:txBody>
      </p:sp>
      <p:sp>
        <p:nvSpPr>
          <p:cNvPr id="11" name="Shape 7"/>
          <p:cNvSpPr/>
          <p:nvPr/>
        </p:nvSpPr>
        <p:spPr>
          <a:xfrm>
            <a:off x="793790" y="4809411"/>
            <a:ext cx="6407944" cy="1685330"/>
          </a:xfrm>
          <a:prstGeom prst="roundRect">
            <a:avLst>
              <a:gd name="adj" fmla="val 8681"/>
            </a:avLst>
          </a:prstGeom>
          <a:solidFill>
            <a:srgbClr val="FAF9F5"/>
          </a:solidFill>
          <a:ln w="30480">
            <a:solidFill>
              <a:srgbClr val="BFD3D8"/>
            </a:solidFill>
            <a:prstDash val="solid"/>
          </a:ln>
        </p:spPr>
      </p:sp>
      <p:pic>
        <p:nvPicPr>
          <p:cNvPr id="12" name="Image 2" descr="preencoded.png"/>
          <p:cNvPicPr>
            <a:picLocks noChangeAspect="1"/>
          </p:cNvPicPr>
          <p:nvPr/>
        </p:nvPicPr>
        <p:blipFill>
          <a:blip r:embed="rId3"/>
          <a:stretch>
            <a:fillRect/>
          </a:stretch>
        </p:blipFill>
        <p:spPr>
          <a:xfrm>
            <a:off x="763310" y="4809411"/>
            <a:ext cx="121920" cy="1685330"/>
          </a:xfrm>
          <a:prstGeom prst="rect">
            <a:avLst/>
          </a:prstGeom>
        </p:spPr>
      </p:pic>
      <p:sp>
        <p:nvSpPr>
          <p:cNvPr id="13" name="Text 8"/>
          <p:cNvSpPr/>
          <p:nvPr/>
        </p:nvSpPr>
        <p:spPr>
          <a:xfrm>
            <a:off x="1142524" y="5066705"/>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384653"/>
                </a:solidFill>
                <a:latin typeface="Host Grotesk Medium" pitchFamily="34" charset="0"/>
                <a:ea typeface="Host Grotesk Medium" pitchFamily="34" charset="-122"/>
                <a:cs typeface="Host Grotesk Medium" pitchFamily="34" charset="-120"/>
              </a:rPr>
              <a:t>Reduce Stigma</a:t>
            </a:r>
            <a:endParaRPr lang="en-US" sz="2200" dirty="0"/>
          </a:p>
        </p:txBody>
      </p:sp>
      <p:sp>
        <p:nvSpPr>
          <p:cNvPr id="14" name="Text 9"/>
          <p:cNvSpPr/>
          <p:nvPr/>
        </p:nvSpPr>
        <p:spPr>
          <a:xfrm>
            <a:off x="1142524" y="5557123"/>
            <a:ext cx="5801916" cy="680323"/>
          </a:xfrm>
          <a:prstGeom prst="rect">
            <a:avLst/>
          </a:prstGeom>
          <a:noFill/>
          <a:ln/>
        </p:spPr>
        <p:txBody>
          <a:bodyPr wrap="square" lIns="0" tIns="0" rIns="0" bIns="0" rtlCol="0" anchor="t"/>
          <a:lstStyle/>
          <a:p>
            <a:pPr marL="0" indent="0" algn="l">
              <a:lnSpc>
                <a:spcPts val="2650"/>
              </a:lnSpc>
              <a:buNone/>
            </a:pPr>
            <a:r>
              <a:rPr lang="en-US" sz="1750" dirty="0">
                <a:solidFill>
                  <a:srgbClr val="384653"/>
                </a:solidFill>
                <a:latin typeface="Roboto" pitchFamily="34" charset="0"/>
                <a:ea typeface="Roboto" pitchFamily="34" charset="-122"/>
                <a:cs typeface="Roboto" pitchFamily="34" charset="-120"/>
              </a:rPr>
              <a:t>Encourages more people to seek help and reduces the stigma associated with mental health conditions.</a:t>
            </a:r>
            <a:endParaRPr lang="en-US" sz="1750" dirty="0"/>
          </a:p>
        </p:txBody>
      </p:sp>
      <p:sp>
        <p:nvSpPr>
          <p:cNvPr id="15" name="Shape 10"/>
          <p:cNvSpPr/>
          <p:nvPr/>
        </p:nvSpPr>
        <p:spPr>
          <a:xfrm>
            <a:off x="7428548" y="4809411"/>
            <a:ext cx="6408063" cy="1685330"/>
          </a:xfrm>
          <a:prstGeom prst="roundRect">
            <a:avLst>
              <a:gd name="adj" fmla="val 8681"/>
            </a:avLst>
          </a:prstGeom>
          <a:solidFill>
            <a:srgbClr val="FAF9F5"/>
          </a:solidFill>
          <a:ln w="30480">
            <a:solidFill>
              <a:srgbClr val="BFD3D8"/>
            </a:solidFill>
            <a:prstDash val="solid"/>
          </a:ln>
        </p:spPr>
      </p:sp>
      <p:pic>
        <p:nvPicPr>
          <p:cNvPr id="16" name="Image 3" descr="preencoded.png"/>
          <p:cNvPicPr>
            <a:picLocks noChangeAspect="1"/>
          </p:cNvPicPr>
          <p:nvPr/>
        </p:nvPicPr>
        <p:blipFill>
          <a:blip r:embed="rId3"/>
          <a:stretch>
            <a:fillRect/>
          </a:stretch>
        </p:blipFill>
        <p:spPr>
          <a:xfrm>
            <a:off x="7398067" y="4809411"/>
            <a:ext cx="121920" cy="1685330"/>
          </a:xfrm>
          <a:prstGeom prst="rect">
            <a:avLst/>
          </a:prstGeom>
        </p:spPr>
      </p:pic>
      <p:sp>
        <p:nvSpPr>
          <p:cNvPr id="17" name="Text 11"/>
          <p:cNvSpPr/>
          <p:nvPr/>
        </p:nvSpPr>
        <p:spPr>
          <a:xfrm>
            <a:off x="7777282" y="5066705"/>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384653"/>
                </a:solidFill>
                <a:latin typeface="Host Grotesk Medium" pitchFamily="34" charset="0"/>
                <a:ea typeface="Host Grotesk Medium" pitchFamily="34" charset="-122"/>
                <a:cs typeface="Host Grotesk Medium" pitchFamily="34" charset="-120"/>
              </a:rPr>
              <a:t>Better Policies</a:t>
            </a:r>
            <a:endParaRPr lang="en-US" sz="2200" dirty="0"/>
          </a:p>
        </p:txBody>
      </p:sp>
      <p:sp>
        <p:nvSpPr>
          <p:cNvPr id="18" name="Text 12"/>
          <p:cNvSpPr/>
          <p:nvPr/>
        </p:nvSpPr>
        <p:spPr>
          <a:xfrm>
            <a:off x="7777282" y="5557123"/>
            <a:ext cx="5802035" cy="680323"/>
          </a:xfrm>
          <a:prstGeom prst="rect">
            <a:avLst/>
          </a:prstGeom>
          <a:noFill/>
          <a:ln/>
        </p:spPr>
        <p:txBody>
          <a:bodyPr wrap="square" lIns="0" tIns="0" rIns="0" bIns="0" rtlCol="0" anchor="t"/>
          <a:lstStyle/>
          <a:p>
            <a:pPr marL="0" indent="0" algn="l">
              <a:lnSpc>
                <a:spcPts val="2650"/>
              </a:lnSpc>
              <a:buNone/>
            </a:pPr>
            <a:r>
              <a:rPr lang="en-US" sz="1750" dirty="0">
                <a:solidFill>
                  <a:srgbClr val="384653"/>
                </a:solidFill>
                <a:latin typeface="Roboto" pitchFamily="34" charset="0"/>
                <a:ea typeface="Roboto" pitchFamily="34" charset="-122"/>
                <a:cs typeface="Roboto" pitchFamily="34" charset="-120"/>
              </a:rPr>
              <a:t>Informs healthcare policies, promotes emotional resilience, and creates inclusive environments.</a:t>
            </a:r>
            <a:endParaRPr lang="en-US" sz="1750" dirty="0"/>
          </a:p>
        </p:txBody>
      </p:sp>
      <p:sp>
        <p:nvSpPr>
          <p:cNvPr id="19" name="Rectangle: Rounded Corners 18">
            <a:extLst>
              <a:ext uri="{FF2B5EF4-FFF2-40B4-BE49-F238E27FC236}">
                <a16:creationId xmlns:a16="http://schemas.microsoft.com/office/drawing/2014/main" id="{A3E2F041-B797-F692-4769-2DFD450104C6}"/>
              </a:ext>
            </a:extLst>
          </p:cNvPr>
          <p:cNvSpPr/>
          <p:nvPr/>
        </p:nvSpPr>
        <p:spPr>
          <a:xfrm>
            <a:off x="12827132" y="7718156"/>
            <a:ext cx="1679282" cy="371959"/>
          </a:xfrm>
          <a:prstGeom prst="roundRect">
            <a:avLst/>
          </a:prstGeom>
          <a:ln>
            <a:solidFill>
              <a:schemeClr val="bg1">
                <a:lumMod val="85000"/>
              </a:schemeClr>
            </a:solidFill>
          </a:ln>
        </p:spPr>
        <p:style>
          <a:lnRef idx="2">
            <a:schemeClr val="accent1">
              <a:shade val="15000"/>
            </a:schemeClr>
          </a:lnRef>
          <a:fillRef idx="1001">
            <a:schemeClr val="lt2"/>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85506" y="693639"/>
            <a:ext cx="5670590" cy="708779"/>
          </a:xfrm>
          <a:prstGeom prst="rect">
            <a:avLst/>
          </a:prstGeom>
          <a:noFill/>
          <a:ln/>
        </p:spPr>
        <p:txBody>
          <a:bodyPr wrap="none" lIns="0" tIns="0" rIns="0" bIns="0" rtlCol="0" anchor="t"/>
          <a:lstStyle/>
          <a:p>
            <a:pPr marL="0" indent="0" algn="l">
              <a:lnSpc>
                <a:spcPts val="5550"/>
              </a:lnSpc>
              <a:buNone/>
            </a:pPr>
            <a:r>
              <a:rPr lang="en-US" sz="4400" b="1" dirty="0">
                <a:solidFill>
                  <a:srgbClr val="2E3C4E"/>
                </a:solidFill>
                <a:latin typeface="Host Grotesk Medium" pitchFamily="34" charset="0"/>
                <a:ea typeface="Host Grotesk Medium" pitchFamily="34" charset="-122"/>
                <a:cs typeface="Host Grotesk Medium" pitchFamily="34" charset="-120"/>
              </a:rPr>
              <a:t>Project Goals</a:t>
            </a:r>
            <a:endParaRPr lang="en-US" sz="4400" b="1" dirty="0"/>
          </a:p>
        </p:txBody>
      </p:sp>
      <p:sp>
        <p:nvSpPr>
          <p:cNvPr id="3" name="Text 1"/>
          <p:cNvSpPr/>
          <p:nvPr/>
        </p:nvSpPr>
        <p:spPr>
          <a:xfrm>
            <a:off x="685506" y="1402418"/>
            <a:ext cx="13042821" cy="340162"/>
          </a:xfrm>
          <a:prstGeom prst="rect">
            <a:avLst/>
          </a:prstGeom>
          <a:noFill/>
          <a:ln/>
        </p:spPr>
        <p:txBody>
          <a:bodyPr wrap="none" lIns="0" tIns="0" rIns="0" bIns="0" rtlCol="0" anchor="t"/>
          <a:lstStyle/>
          <a:p>
            <a:pPr marL="0" indent="0" algn="l">
              <a:lnSpc>
                <a:spcPts val="2650"/>
              </a:lnSpc>
              <a:buNone/>
            </a:pPr>
            <a:r>
              <a:rPr lang="en-US" sz="1750" dirty="0">
                <a:solidFill>
                  <a:srgbClr val="384653"/>
                </a:solidFill>
                <a:latin typeface="Roboto" pitchFamily="34" charset="0"/>
                <a:ea typeface="Roboto" pitchFamily="34" charset="-122"/>
                <a:cs typeface="Roboto" pitchFamily="34" charset="-120"/>
              </a:rPr>
              <a:t>This project explores the relationship between mental health and socioeconomic factors using a multi-country survey dataset.</a:t>
            </a:r>
            <a:endParaRPr lang="en-US" sz="1750" dirty="0"/>
          </a:p>
        </p:txBody>
      </p:sp>
      <p:sp>
        <p:nvSpPr>
          <p:cNvPr id="4" name="Shape 2"/>
          <p:cNvSpPr/>
          <p:nvPr/>
        </p:nvSpPr>
        <p:spPr>
          <a:xfrm>
            <a:off x="721908" y="2196208"/>
            <a:ext cx="510302" cy="510302"/>
          </a:xfrm>
          <a:prstGeom prst="roundRect">
            <a:avLst>
              <a:gd name="adj" fmla="val 18669"/>
            </a:avLst>
          </a:prstGeom>
          <a:solidFill>
            <a:srgbClr val="D9EDF2"/>
          </a:solidFill>
          <a:ln w="7620">
            <a:solidFill>
              <a:srgbClr val="BFD3D8"/>
            </a:solidFill>
            <a:prstDash val="solid"/>
          </a:ln>
        </p:spPr>
      </p:sp>
      <p:sp>
        <p:nvSpPr>
          <p:cNvPr id="5" name="Text 3"/>
          <p:cNvSpPr/>
          <p:nvPr/>
        </p:nvSpPr>
        <p:spPr>
          <a:xfrm>
            <a:off x="806978" y="2319506"/>
            <a:ext cx="340162" cy="425291"/>
          </a:xfrm>
          <a:prstGeom prst="rect">
            <a:avLst/>
          </a:prstGeom>
          <a:noFill/>
          <a:ln/>
        </p:spPr>
        <p:txBody>
          <a:bodyPr wrap="none" lIns="0" tIns="0" rIns="0" bIns="0" rtlCol="0" anchor="t"/>
          <a:lstStyle/>
          <a:p>
            <a:pPr marL="0" indent="0" algn="ctr">
              <a:lnSpc>
                <a:spcPts val="2650"/>
              </a:lnSpc>
              <a:buNone/>
            </a:pPr>
            <a:r>
              <a:rPr lang="en-US" sz="2650" dirty="0">
                <a:solidFill>
                  <a:srgbClr val="384653"/>
                </a:solidFill>
                <a:latin typeface="Host Grotesk Medium" pitchFamily="34" charset="0"/>
                <a:ea typeface="Host Grotesk Medium" pitchFamily="34" charset="-122"/>
                <a:cs typeface="Host Grotesk Medium" pitchFamily="34" charset="-120"/>
              </a:rPr>
              <a:t>1</a:t>
            </a:r>
            <a:endParaRPr lang="en-US" sz="2650" dirty="0"/>
          </a:p>
        </p:txBody>
      </p:sp>
      <p:sp>
        <p:nvSpPr>
          <p:cNvPr id="6" name="Text 4"/>
          <p:cNvSpPr/>
          <p:nvPr/>
        </p:nvSpPr>
        <p:spPr>
          <a:xfrm>
            <a:off x="1475019" y="2319506"/>
            <a:ext cx="2835235" cy="354330"/>
          </a:xfrm>
          <a:prstGeom prst="rect">
            <a:avLst/>
          </a:prstGeom>
          <a:noFill/>
          <a:ln/>
        </p:spPr>
        <p:txBody>
          <a:bodyPr wrap="none" lIns="0" tIns="0" rIns="0" bIns="0" rtlCol="0" anchor="t"/>
          <a:lstStyle/>
          <a:p>
            <a:pPr>
              <a:lnSpc>
                <a:spcPts val="2750"/>
              </a:lnSpc>
            </a:pPr>
            <a:r>
              <a:rPr lang="en-US" sz="3200" dirty="0">
                <a:solidFill>
                  <a:srgbClr val="384653"/>
                </a:solidFill>
                <a:latin typeface="Host Grotesk Medium" pitchFamily="34" charset="0"/>
                <a:ea typeface="Host Grotesk Medium" pitchFamily="34" charset="-122"/>
                <a:cs typeface="Host Grotesk Medium" pitchFamily="34" charset="-120"/>
              </a:rPr>
              <a:t>Uncover Patterns</a:t>
            </a:r>
            <a:endParaRPr lang="en-US" sz="3200" dirty="0"/>
          </a:p>
        </p:txBody>
      </p:sp>
      <p:sp>
        <p:nvSpPr>
          <p:cNvPr id="7" name="Text 5"/>
          <p:cNvSpPr/>
          <p:nvPr/>
        </p:nvSpPr>
        <p:spPr>
          <a:xfrm>
            <a:off x="1587580" y="3008650"/>
            <a:ext cx="3421499" cy="1700808"/>
          </a:xfrm>
          <a:prstGeom prst="rect">
            <a:avLst/>
          </a:prstGeom>
          <a:noFill/>
          <a:ln/>
        </p:spPr>
        <p:txBody>
          <a:bodyPr wrap="square" lIns="0" tIns="0" rIns="0" bIns="0" rtlCol="0" anchor="t"/>
          <a:lstStyle/>
          <a:p>
            <a:pPr marL="0" indent="0" algn="l">
              <a:lnSpc>
                <a:spcPts val="2650"/>
              </a:lnSpc>
              <a:buNone/>
            </a:pPr>
            <a:r>
              <a:rPr lang="en-US" sz="1750" dirty="0">
                <a:solidFill>
                  <a:srgbClr val="384653"/>
                </a:solidFill>
                <a:latin typeface="Roboto" pitchFamily="34" charset="0"/>
                <a:ea typeface="Roboto" pitchFamily="34" charset="-122"/>
                <a:cs typeface="Roboto" pitchFamily="34" charset="-120"/>
              </a:rPr>
              <a:t>Use exploratory data analysis (EDA) to find patterns and disparities in mental health across demographics and regions.</a:t>
            </a:r>
            <a:endParaRPr lang="en-US" sz="1750" dirty="0"/>
          </a:p>
        </p:txBody>
      </p:sp>
      <p:sp>
        <p:nvSpPr>
          <p:cNvPr id="8" name="Shape 6"/>
          <p:cNvSpPr/>
          <p:nvPr/>
        </p:nvSpPr>
        <p:spPr>
          <a:xfrm>
            <a:off x="4985148" y="2205504"/>
            <a:ext cx="510302" cy="510302"/>
          </a:xfrm>
          <a:prstGeom prst="roundRect">
            <a:avLst>
              <a:gd name="adj" fmla="val 18669"/>
            </a:avLst>
          </a:prstGeom>
          <a:solidFill>
            <a:srgbClr val="D9EDF2"/>
          </a:solidFill>
          <a:ln w="7620">
            <a:solidFill>
              <a:srgbClr val="BFD3D8"/>
            </a:solidFill>
            <a:prstDash val="solid"/>
          </a:ln>
        </p:spPr>
      </p:sp>
      <p:sp>
        <p:nvSpPr>
          <p:cNvPr id="9" name="Text 7"/>
          <p:cNvSpPr/>
          <p:nvPr/>
        </p:nvSpPr>
        <p:spPr>
          <a:xfrm>
            <a:off x="5064980" y="2327364"/>
            <a:ext cx="340162" cy="425291"/>
          </a:xfrm>
          <a:prstGeom prst="rect">
            <a:avLst/>
          </a:prstGeom>
          <a:noFill/>
          <a:ln/>
        </p:spPr>
        <p:txBody>
          <a:bodyPr wrap="none" lIns="0" tIns="0" rIns="0" bIns="0" rtlCol="0" anchor="t"/>
          <a:lstStyle/>
          <a:p>
            <a:pPr marL="0" indent="0" algn="ctr">
              <a:lnSpc>
                <a:spcPts val="2650"/>
              </a:lnSpc>
              <a:buNone/>
            </a:pPr>
            <a:r>
              <a:rPr lang="en-US" sz="2650" dirty="0">
                <a:solidFill>
                  <a:srgbClr val="384653"/>
                </a:solidFill>
                <a:latin typeface="Host Grotesk Medium" pitchFamily="34" charset="0"/>
                <a:ea typeface="Host Grotesk Medium" pitchFamily="34" charset="-122"/>
                <a:cs typeface="Host Grotesk Medium" pitchFamily="34" charset="-120"/>
              </a:rPr>
              <a:t>2</a:t>
            </a:r>
            <a:endParaRPr lang="en-US" sz="2650" dirty="0"/>
          </a:p>
        </p:txBody>
      </p:sp>
      <p:sp>
        <p:nvSpPr>
          <p:cNvPr id="10" name="Text 8"/>
          <p:cNvSpPr/>
          <p:nvPr/>
        </p:nvSpPr>
        <p:spPr>
          <a:xfrm>
            <a:off x="5789298" y="2320935"/>
            <a:ext cx="2835235" cy="354330"/>
          </a:xfrm>
          <a:prstGeom prst="rect">
            <a:avLst/>
          </a:prstGeom>
          <a:noFill/>
          <a:ln/>
        </p:spPr>
        <p:txBody>
          <a:bodyPr wrap="none" lIns="0" tIns="0" rIns="0" bIns="0" rtlCol="0" anchor="t"/>
          <a:lstStyle/>
          <a:p>
            <a:pPr marL="0" indent="0" algn="l">
              <a:lnSpc>
                <a:spcPts val="2750"/>
              </a:lnSpc>
              <a:buNone/>
            </a:pPr>
            <a:r>
              <a:rPr lang="en-US" sz="3200" dirty="0">
                <a:solidFill>
                  <a:srgbClr val="384653"/>
                </a:solidFill>
                <a:latin typeface="Host Grotesk Medium" pitchFamily="34" charset="0"/>
                <a:ea typeface="Host Grotesk Medium" pitchFamily="34" charset="-122"/>
                <a:cs typeface="Host Grotesk Medium" pitchFamily="34" charset="-120"/>
              </a:rPr>
              <a:t>Analyze Impact</a:t>
            </a:r>
            <a:endParaRPr lang="en-US" sz="3200" dirty="0"/>
          </a:p>
        </p:txBody>
      </p:sp>
      <p:sp>
        <p:nvSpPr>
          <p:cNvPr id="11" name="Text 9"/>
          <p:cNvSpPr/>
          <p:nvPr/>
        </p:nvSpPr>
        <p:spPr>
          <a:xfrm>
            <a:off x="5789298" y="2930605"/>
            <a:ext cx="3421499" cy="1360646"/>
          </a:xfrm>
          <a:prstGeom prst="rect">
            <a:avLst/>
          </a:prstGeom>
          <a:noFill/>
          <a:ln/>
        </p:spPr>
        <p:txBody>
          <a:bodyPr wrap="square" lIns="0" tIns="0" rIns="0" bIns="0" rtlCol="0" anchor="t"/>
          <a:lstStyle/>
          <a:p>
            <a:pPr marL="0" indent="0" algn="l">
              <a:lnSpc>
                <a:spcPts val="2650"/>
              </a:lnSpc>
              <a:buNone/>
            </a:pPr>
            <a:r>
              <a:rPr lang="en-US" sz="1750" dirty="0">
                <a:solidFill>
                  <a:srgbClr val="384653"/>
                </a:solidFill>
                <a:latin typeface="Roboto" pitchFamily="34" charset="0"/>
                <a:ea typeface="Roboto" pitchFamily="34" charset="-122"/>
                <a:cs typeface="Roboto" pitchFamily="34" charset="-120"/>
              </a:rPr>
              <a:t>Assess the impact of demographic, scientific trust, and socio-economic factors on mental health status.</a:t>
            </a:r>
            <a:endParaRPr lang="en-US" sz="1750" dirty="0"/>
          </a:p>
        </p:txBody>
      </p:sp>
      <p:sp>
        <p:nvSpPr>
          <p:cNvPr id="12" name="Shape 10"/>
          <p:cNvSpPr/>
          <p:nvPr/>
        </p:nvSpPr>
        <p:spPr>
          <a:xfrm>
            <a:off x="9340452" y="2205504"/>
            <a:ext cx="510302" cy="510302"/>
          </a:xfrm>
          <a:prstGeom prst="roundRect">
            <a:avLst>
              <a:gd name="adj" fmla="val 18669"/>
            </a:avLst>
          </a:prstGeom>
          <a:solidFill>
            <a:srgbClr val="D9EDF2"/>
          </a:solidFill>
          <a:ln w="7620">
            <a:solidFill>
              <a:srgbClr val="BFD3D8"/>
            </a:solidFill>
            <a:prstDash val="solid"/>
          </a:ln>
        </p:spPr>
      </p:sp>
      <p:sp>
        <p:nvSpPr>
          <p:cNvPr id="13" name="Text 11"/>
          <p:cNvSpPr/>
          <p:nvPr/>
        </p:nvSpPr>
        <p:spPr>
          <a:xfrm>
            <a:off x="9413290" y="2284025"/>
            <a:ext cx="340162" cy="425291"/>
          </a:xfrm>
          <a:prstGeom prst="rect">
            <a:avLst/>
          </a:prstGeom>
          <a:noFill/>
          <a:ln/>
        </p:spPr>
        <p:txBody>
          <a:bodyPr wrap="none" lIns="0" tIns="0" rIns="0" bIns="0" rtlCol="0" anchor="t"/>
          <a:lstStyle/>
          <a:p>
            <a:pPr marL="0" indent="0" algn="ctr">
              <a:lnSpc>
                <a:spcPts val="2650"/>
              </a:lnSpc>
              <a:buNone/>
            </a:pPr>
            <a:r>
              <a:rPr lang="en-US" sz="2650" dirty="0">
                <a:solidFill>
                  <a:srgbClr val="384653"/>
                </a:solidFill>
                <a:latin typeface="Host Grotesk Medium" pitchFamily="34" charset="0"/>
                <a:ea typeface="Host Grotesk Medium" pitchFamily="34" charset="-122"/>
                <a:cs typeface="Host Grotesk Medium" pitchFamily="34" charset="-120"/>
              </a:rPr>
              <a:t>3</a:t>
            </a:r>
            <a:endParaRPr lang="en-US" sz="2650" dirty="0"/>
          </a:p>
        </p:txBody>
      </p:sp>
      <p:sp>
        <p:nvSpPr>
          <p:cNvPr id="14" name="Text 12"/>
          <p:cNvSpPr/>
          <p:nvPr/>
        </p:nvSpPr>
        <p:spPr>
          <a:xfrm>
            <a:off x="10129361" y="2320935"/>
            <a:ext cx="2835235" cy="354330"/>
          </a:xfrm>
          <a:prstGeom prst="rect">
            <a:avLst/>
          </a:prstGeom>
          <a:noFill/>
          <a:ln/>
        </p:spPr>
        <p:txBody>
          <a:bodyPr wrap="none" lIns="0" tIns="0" rIns="0" bIns="0" rtlCol="0" anchor="t"/>
          <a:lstStyle/>
          <a:p>
            <a:pPr marL="0" indent="0" algn="l">
              <a:lnSpc>
                <a:spcPts val="2750"/>
              </a:lnSpc>
              <a:buNone/>
            </a:pPr>
            <a:r>
              <a:rPr lang="en-US" sz="3200" dirty="0">
                <a:solidFill>
                  <a:srgbClr val="384653"/>
                </a:solidFill>
                <a:latin typeface="Host Grotesk Medium" pitchFamily="34" charset="0"/>
                <a:ea typeface="Host Grotesk Medium" pitchFamily="34" charset="-122"/>
                <a:cs typeface="Host Grotesk Medium" pitchFamily="34" charset="-120"/>
              </a:rPr>
              <a:t>Predictive Model</a:t>
            </a:r>
            <a:endParaRPr lang="en-US" sz="3200" dirty="0"/>
          </a:p>
        </p:txBody>
      </p:sp>
      <p:sp>
        <p:nvSpPr>
          <p:cNvPr id="15" name="Text 13"/>
          <p:cNvSpPr/>
          <p:nvPr/>
        </p:nvSpPr>
        <p:spPr>
          <a:xfrm>
            <a:off x="10306828" y="2840236"/>
            <a:ext cx="3421499" cy="1020485"/>
          </a:xfrm>
          <a:prstGeom prst="rect">
            <a:avLst/>
          </a:prstGeom>
          <a:noFill/>
          <a:ln/>
        </p:spPr>
        <p:txBody>
          <a:bodyPr wrap="square" lIns="0" tIns="0" rIns="0" bIns="0" rtlCol="0" anchor="t"/>
          <a:lstStyle/>
          <a:p>
            <a:pPr marL="0" indent="0" algn="l">
              <a:lnSpc>
                <a:spcPts val="2650"/>
              </a:lnSpc>
              <a:buNone/>
            </a:pPr>
            <a:r>
              <a:rPr lang="en-US" sz="1750" dirty="0">
                <a:solidFill>
                  <a:srgbClr val="384653"/>
                </a:solidFill>
                <a:latin typeface="Roboto" pitchFamily="34" charset="0"/>
                <a:ea typeface="Roboto" pitchFamily="34" charset="-122"/>
                <a:cs typeface="Roboto" pitchFamily="34" charset="-120"/>
              </a:rPr>
              <a:t>Build a machine learning model to predict the likelihood of mental health issues.</a:t>
            </a:r>
          </a:p>
          <a:p>
            <a:pPr>
              <a:lnSpc>
                <a:spcPts val="2650"/>
              </a:lnSpc>
            </a:pPr>
            <a:r>
              <a:rPr lang="en-US" dirty="0">
                <a:solidFill>
                  <a:schemeClr val="tx1">
                    <a:lumMod val="75000"/>
                    <a:lumOff val="25000"/>
                  </a:schemeClr>
                </a:solidFill>
                <a:latin typeface="Roboto" panose="02000000000000000000" pitchFamily="2" charset="0"/>
                <a:ea typeface="Roboto" panose="02000000000000000000" pitchFamily="2" charset="0"/>
                <a:cs typeface="Roboto" panose="02000000000000000000" pitchFamily="2" charset="0"/>
              </a:rPr>
              <a:t>Input Data → Logistic Regression Model → Prediction → Evaluation </a:t>
            </a:r>
          </a:p>
        </p:txBody>
      </p:sp>
      <p:pic>
        <p:nvPicPr>
          <p:cNvPr id="16" name="Picture 15">
            <a:extLst>
              <a:ext uri="{FF2B5EF4-FFF2-40B4-BE49-F238E27FC236}">
                <a16:creationId xmlns:a16="http://schemas.microsoft.com/office/drawing/2014/main" id="{70B7C7DB-BD4C-0D8D-B9E8-2BD56FC948DF}"/>
              </a:ext>
            </a:extLst>
          </p:cNvPr>
          <p:cNvPicPr>
            <a:picLocks noChangeAspect="1"/>
          </p:cNvPicPr>
          <p:nvPr/>
        </p:nvPicPr>
        <p:blipFill>
          <a:blip r:embed="rId3"/>
          <a:stretch>
            <a:fillRect/>
          </a:stretch>
        </p:blipFill>
        <p:spPr>
          <a:xfrm>
            <a:off x="951063" y="5703774"/>
            <a:ext cx="11807675" cy="2442336"/>
          </a:xfrm>
          <a:prstGeom prst="rect">
            <a:avLst/>
          </a:prstGeom>
        </p:spPr>
      </p:pic>
      <p:sp>
        <p:nvSpPr>
          <p:cNvPr id="17" name="TextBox 16">
            <a:extLst>
              <a:ext uri="{FF2B5EF4-FFF2-40B4-BE49-F238E27FC236}">
                <a16:creationId xmlns:a16="http://schemas.microsoft.com/office/drawing/2014/main" id="{77CE457F-B93A-C46D-59A7-353C2D74911F}"/>
              </a:ext>
            </a:extLst>
          </p:cNvPr>
          <p:cNvSpPr txBox="1"/>
          <p:nvPr/>
        </p:nvSpPr>
        <p:spPr>
          <a:xfrm>
            <a:off x="685506" y="4805909"/>
            <a:ext cx="9853465" cy="707886"/>
          </a:xfrm>
          <a:prstGeom prst="rect">
            <a:avLst/>
          </a:prstGeom>
          <a:noFill/>
        </p:spPr>
        <p:txBody>
          <a:bodyPr wrap="square" rtlCol="0">
            <a:spAutoFit/>
          </a:bodyPr>
          <a:lstStyle/>
          <a:p>
            <a:r>
              <a:rPr lang="en-IN" sz="4000" b="1" dirty="0">
                <a:solidFill>
                  <a:schemeClr val="tx1">
                    <a:lumMod val="75000"/>
                    <a:lumOff val="25000"/>
                  </a:schemeClr>
                </a:solidFill>
                <a:latin typeface="Host Grotesk Medium" panose="020B0604020202020204" charset="0"/>
              </a:rPr>
              <a:t>Methodology</a:t>
            </a:r>
          </a:p>
        </p:txBody>
      </p:sp>
      <p:sp>
        <p:nvSpPr>
          <p:cNvPr id="18" name="Rectangle: Rounded Corners 17">
            <a:extLst>
              <a:ext uri="{FF2B5EF4-FFF2-40B4-BE49-F238E27FC236}">
                <a16:creationId xmlns:a16="http://schemas.microsoft.com/office/drawing/2014/main" id="{C8FE1750-A2A7-03D1-7E8A-F5E2D4834CB9}"/>
              </a:ext>
            </a:extLst>
          </p:cNvPr>
          <p:cNvSpPr/>
          <p:nvPr/>
        </p:nvSpPr>
        <p:spPr>
          <a:xfrm>
            <a:off x="12827132" y="7718156"/>
            <a:ext cx="1679282" cy="371959"/>
          </a:xfrm>
          <a:prstGeom prst="roundRect">
            <a:avLst/>
          </a:prstGeom>
          <a:ln>
            <a:solidFill>
              <a:schemeClr val="bg1">
                <a:lumMod val="85000"/>
              </a:schemeClr>
            </a:solidFill>
          </a:ln>
        </p:spPr>
        <p:style>
          <a:lnRef idx="2">
            <a:schemeClr val="accent1">
              <a:shade val="15000"/>
            </a:schemeClr>
          </a:lnRef>
          <a:fillRef idx="1001">
            <a:schemeClr val="lt2"/>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79BDA19-3C32-8F6B-E9A5-DBFE7BB62241}"/>
              </a:ext>
            </a:extLst>
          </p:cNvPr>
          <p:cNvSpPr txBox="1"/>
          <p:nvPr/>
        </p:nvSpPr>
        <p:spPr>
          <a:xfrm>
            <a:off x="271462" y="2698260"/>
            <a:ext cx="12885821" cy="400110"/>
          </a:xfrm>
          <a:prstGeom prst="rect">
            <a:avLst/>
          </a:prstGeom>
          <a:noFill/>
        </p:spPr>
        <p:txBody>
          <a:bodyPr wrap="square" rtlCol="0">
            <a:spAutoFit/>
          </a:bodyPr>
          <a:lstStyle/>
          <a:p>
            <a:r>
              <a:rPr lang="en-IN" sz="2000" dirty="0">
                <a:latin typeface="Host Grotesk Medium" panose="020B0604020202020204" charset="0"/>
              </a:rPr>
              <a:t>1. IMPORTING LIBRARIES</a:t>
            </a:r>
          </a:p>
        </p:txBody>
      </p:sp>
      <p:pic>
        <p:nvPicPr>
          <p:cNvPr id="6" name="Picture 5">
            <a:extLst>
              <a:ext uri="{FF2B5EF4-FFF2-40B4-BE49-F238E27FC236}">
                <a16:creationId xmlns:a16="http://schemas.microsoft.com/office/drawing/2014/main" id="{10C8411D-FBCD-FF05-5A07-5C92D271AA20}"/>
              </a:ext>
            </a:extLst>
          </p:cNvPr>
          <p:cNvPicPr>
            <a:picLocks noChangeAspect="1"/>
          </p:cNvPicPr>
          <p:nvPr/>
        </p:nvPicPr>
        <p:blipFill>
          <a:blip r:embed="rId2"/>
          <a:stretch>
            <a:fillRect/>
          </a:stretch>
        </p:blipFill>
        <p:spPr>
          <a:xfrm>
            <a:off x="389522" y="3230152"/>
            <a:ext cx="3839111" cy="2429214"/>
          </a:xfrm>
          <a:prstGeom prst="rect">
            <a:avLst/>
          </a:prstGeom>
        </p:spPr>
      </p:pic>
      <p:sp>
        <p:nvSpPr>
          <p:cNvPr id="7" name="TextBox 6">
            <a:extLst>
              <a:ext uri="{FF2B5EF4-FFF2-40B4-BE49-F238E27FC236}">
                <a16:creationId xmlns:a16="http://schemas.microsoft.com/office/drawing/2014/main" id="{7F170508-C797-6557-D048-922E96BD311C}"/>
              </a:ext>
            </a:extLst>
          </p:cNvPr>
          <p:cNvSpPr txBox="1"/>
          <p:nvPr/>
        </p:nvSpPr>
        <p:spPr>
          <a:xfrm>
            <a:off x="5906377" y="2781822"/>
            <a:ext cx="4939716" cy="400110"/>
          </a:xfrm>
          <a:prstGeom prst="rect">
            <a:avLst/>
          </a:prstGeom>
          <a:noFill/>
        </p:spPr>
        <p:txBody>
          <a:bodyPr wrap="square" rtlCol="0">
            <a:spAutoFit/>
          </a:bodyPr>
          <a:lstStyle/>
          <a:p>
            <a:r>
              <a:rPr lang="en-IN" sz="2000" dirty="0">
                <a:latin typeface="Host Grotesk Medium" panose="020B0604020202020204" charset="0"/>
              </a:rPr>
              <a:t>2. IMPORTING THE DATASET</a:t>
            </a:r>
          </a:p>
        </p:txBody>
      </p:sp>
      <p:pic>
        <p:nvPicPr>
          <p:cNvPr id="9" name="Picture 8">
            <a:extLst>
              <a:ext uri="{FF2B5EF4-FFF2-40B4-BE49-F238E27FC236}">
                <a16:creationId xmlns:a16="http://schemas.microsoft.com/office/drawing/2014/main" id="{0B1A8F7B-E5B3-CCFE-6818-7E5BB50D2727}"/>
              </a:ext>
            </a:extLst>
          </p:cNvPr>
          <p:cNvPicPr>
            <a:picLocks noChangeAspect="1"/>
          </p:cNvPicPr>
          <p:nvPr/>
        </p:nvPicPr>
        <p:blipFill>
          <a:blip r:embed="rId3"/>
          <a:stretch>
            <a:fillRect/>
          </a:stretch>
        </p:blipFill>
        <p:spPr>
          <a:xfrm>
            <a:off x="5911764" y="3388604"/>
            <a:ext cx="7746588" cy="2103637"/>
          </a:xfrm>
          <a:prstGeom prst="rect">
            <a:avLst/>
          </a:prstGeom>
        </p:spPr>
      </p:pic>
      <p:sp>
        <p:nvSpPr>
          <p:cNvPr id="10" name="TextBox 9">
            <a:extLst>
              <a:ext uri="{FF2B5EF4-FFF2-40B4-BE49-F238E27FC236}">
                <a16:creationId xmlns:a16="http://schemas.microsoft.com/office/drawing/2014/main" id="{BA932F8A-24D2-892C-2BE4-525BB5EE5346}"/>
              </a:ext>
            </a:extLst>
          </p:cNvPr>
          <p:cNvSpPr txBox="1"/>
          <p:nvPr/>
        </p:nvSpPr>
        <p:spPr>
          <a:xfrm>
            <a:off x="271462" y="5782475"/>
            <a:ext cx="7986713" cy="400110"/>
          </a:xfrm>
          <a:prstGeom prst="rect">
            <a:avLst/>
          </a:prstGeom>
          <a:noFill/>
        </p:spPr>
        <p:txBody>
          <a:bodyPr wrap="square" rtlCol="0">
            <a:spAutoFit/>
          </a:bodyPr>
          <a:lstStyle/>
          <a:p>
            <a:r>
              <a:rPr lang="en-IN" sz="2000" dirty="0">
                <a:latin typeface="Host Grotesk Medium" panose="020B0604020202020204" charset="0"/>
              </a:rPr>
              <a:t>3. UNDERSTANDING THE DATASET</a:t>
            </a:r>
          </a:p>
        </p:txBody>
      </p:sp>
      <p:pic>
        <p:nvPicPr>
          <p:cNvPr id="14" name="Picture 13">
            <a:extLst>
              <a:ext uri="{FF2B5EF4-FFF2-40B4-BE49-F238E27FC236}">
                <a16:creationId xmlns:a16="http://schemas.microsoft.com/office/drawing/2014/main" id="{BD496B68-BB0F-1BDE-E07A-047270A6C41F}"/>
              </a:ext>
            </a:extLst>
          </p:cNvPr>
          <p:cNvPicPr>
            <a:picLocks noChangeAspect="1"/>
          </p:cNvPicPr>
          <p:nvPr/>
        </p:nvPicPr>
        <p:blipFill>
          <a:blip r:embed="rId4"/>
          <a:stretch>
            <a:fillRect/>
          </a:stretch>
        </p:blipFill>
        <p:spPr>
          <a:xfrm>
            <a:off x="389522" y="6199930"/>
            <a:ext cx="7312955" cy="1997193"/>
          </a:xfrm>
          <a:prstGeom prst="rect">
            <a:avLst/>
          </a:prstGeom>
        </p:spPr>
      </p:pic>
      <p:sp>
        <p:nvSpPr>
          <p:cNvPr id="18" name="TextBox 17">
            <a:extLst>
              <a:ext uri="{FF2B5EF4-FFF2-40B4-BE49-F238E27FC236}">
                <a16:creationId xmlns:a16="http://schemas.microsoft.com/office/drawing/2014/main" id="{D13DECEC-DE06-266D-828F-A0E3C92D72F1}"/>
              </a:ext>
            </a:extLst>
          </p:cNvPr>
          <p:cNvSpPr txBox="1"/>
          <p:nvPr/>
        </p:nvSpPr>
        <p:spPr>
          <a:xfrm>
            <a:off x="271462" y="280340"/>
            <a:ext cx="7315200" cy="759952"/>
          </a:xfrm>
          <a:prstGeom prst="rect">
            <a:avLst/>
          </a:prstGeom>
          <a:noFill/>
        </p:spPr>
        <p:txBody>
          <a:bodyPr wrap="square">
            <a:spAutoFit/>
          </a:bodyPr>
          <a:lstStyle/>
          <a:p>
            <a:pPr marL="0" indent="0" algn="l">
              <a:lnSpc>
                <a:spcPts val="5550"/>
              </a:lnSpc>
              <a:buNone/>
            </a:pPr>
            <a:r>
              <a:rPr lang="en-US" sz="3600" dirty="0">
                <a:solidFill>
                  <a:srgbClr val="2E3C4E"/>
                </a:solidFill>
                <a:latin typeface="Host Grotesk Medium" pitchFamily="34" charset="0"/>
                <a:ea typeface="Host Grotesk Medium" pitchFamily="34" charset="-122"/>
                <a:cs typeface="Host Grotesk Medium" pitchFamily="34" charset="-120"/>
              </a:rPr>
              <a:t>Data Preparation</a:t>
            </a:r>
            <a:endParaRPr lang="en-US" sz="3600" dirty="0"/>
          </a:p>
        </p:txBody>
      </p:sp>
      <p:sp>
        <p:nvSpPr>
          <p:cNvPr id="20" name="TextBox 19">
            <a:extLst>
              <a:ext uri="{FF2B5EF4-FFF2-40B4-BE49-F238E27FC236}">
                <a16:creationId xmlns:a16="http://schemas.microsoft.com/office/drawing/2014/main" id="{A370EF2E-AF5F-C4A0-0ED0-EA4DBBD98998}"/>
              </a:ext>
            </a:extLst>
          </p:cNvPr>
          <p:cNvSpPr txBox="1"/>
          <p:nvPr/>
        </p:nvSpPr>
        <p:spPr>
          <a:xfrm>
            <a:off x="387276" y="1049466"/>
            <a:ext cx="7315200" cy="451406"/>
          </a:xfrm>
          <a:prstGeom prst="rect">
            <a:avLst/>
          </a:prstGeom>
          <a:noFill/>
        </p:spPr>
        <p:txBody>
          <a:bodyPr wrap="square">
            <a:spAutoFit/>
          </a:bodyPr>
          <a:lstStyle/>
          <a:p>
            <a:pPr marL="0" indent="0" algn="l">
              <a:lnSpc>
                <a:spcPts val="2750"/>
              </a:lnSpc>
              <a:buNone/>
            </a:pPr>
            <a:r>
              <a:rPr lang="en-US" sz="2400" b="1" dirty="0">
                <a:solidFill>
                  <a:srgbClr val="2E3C4E"/>
                </a:solidFill>
                <a:latin typeface="Host Grotesk Medium" pitchFamily="34" charset="0"/>
                <a:ea typeface="Host Grotesk Medium" pitchFamily="34" charset="-122"/>
                <a:cs typeface="Host Grotesk Medium" pitchFamily="34" charset="-120"/>
              </a:rPr>
              <a:t>Data Collection</a:t>
            </a:r>
            <a:endParaRPr lang="en-US" sz="2400" b="1" dirty="0"/>
          </a:p>
        </p:txBody>
      </p:sp>
      <p:sp>
        <p:nvSpPr>
          <p:cNvPr id="22" name="TextBox 21">
            <a:extLst>
              <a:ext uri="{FF2B5EF4-FFF2-40B4-BE49-F238E27FC236}">
                <a16:creationId xmlns:a16="http://schemas.microsoft.com/office/drawing/2014/main" id="{2E39696B-6038-A9CE-CDAA-9C809B63A456}"/>
              </a:ext>
            </a:extLst>
          </p:cNvPr>
          <p:cNvSpPr txBox="1"/>
          <p:nvPr/>
        </p:nvSpPr>
        <p:spPr>
          <a:xfrm>
            <a:off x="387276" y="1420286"/>
            <a:ext cx="12885821" cy="1105431"/>
          </a:xfrm>
          <a:prstGeom prst="rect">
            <a:avLst/>
          </a:prstGeom>
          <a:noFill/>
        </p:spPr>
        <p:txBody>
          <a:bodyPr wrap="square">
            <a:spAutoFit/>
          </a:bodyPr>
          <a:lstStyle/>
          <a:p>
            <a:pPr marL="0" indent="0" algn="l">
              <a:lnSpc>
                <a:spcPts val="2650"/>
              </a:lnSpc>
              <a:buNone/>
            </a:pPr>
            <a:r>
              <a:rPr lang="en-US" sz="1800" dirty="0">
                <a:solidFill>
                  <a:srgbClr val="384653"/>
                </a:solidFill>
                <a:latin typeface="Roboto" pitchFamily="34" charset="0"/>
                <a:ea typeface="Roboto" pitchFamily="34" charset="-122"/>
                <a:cs typeface="Roboto" pitchFamily="34" charset="-120"/>
              </a:rPr>
              <a:t>Dataset from a large-scale international mental health survey, inspired by the 2020 </a:t>
            </a:r>
            <a:r>
              <a:rPr lang="en-US" sz="1800" dirty="0" err="1">
                <a:solidFill>
                  <a:srgbClr val="384653"/>
                </a:solidFill>
                <a:latin typeface="Roboto" pitchFamily="34" charset="0"/>
                <a:ea typeface="Roboto" pitchFamily="34" charset="-122"/>
                <a:cs typeface="Roboto" pitchFamily="34" charset="-120"/>
              </a:rPr>
              <a:t>Wellcome</a:t>
            </a:r>
            <a:r>
              <a:rPr lang="en-US" sz="1800" dirty="0">
                <a:solidFill>
                  <a:srgbClr val="384653"/>
                </a:solidFill>
                <a:latin typeface="Roboto" pitchFamily="34" charset="0"/>
                <a:ea typeface="Roboto" pitchFamily="34" charset="-122"/>
                <a:cs typeface="Roboto" pitchFamily="34" charset="-120"/>
              </a:rPr>
              <a:t> Global Monitor, with over 20,000 participants across multiple countries.</a:t>
            </a:r>
          </a:p>
          <a:p>
            <a:pPr>
              <a:lnSpc>
                <a:spcPts val="2650"/>
              </a:lnSpc>
            </a:pPr>
            <a:r>
              <a:rPr lang="en-US" dirty="0">
                <a:solidFill>
                  <a:srgbClr val="384653"/>
                </a:solidFill>
                <a:latin typeface="Roboto" pitchFamily="34" charset="0"/>
                <a:ea typeface="Roboto" pitchFamily="34" charset="-122"/>
                <a:cs typeface="Roboto" pitchFamily="34" charset="-120"/>
              </a:rPr>
              <a:t>DATASET LINK </a:t>
            </a:r>
            <a:r>
              <a:rPr lang="en-US" dirty="0">
                <a:solidFill>
                  <a:schemeClr val="accent1">
                    <a:lumMod val="50000"/>
                  </a:schemeClr>
                </a:solidFill>
                <a:latin typeface="Roboto" pitchFamily="34" charset="0"/>
                <a:ea typeface="Roboto" pitchFamily="34" charset="-122"/>
                <a:cs typeface="Roboto" pitchFamily="34" charset="-120"/>
              </a:rPr>
              <a:t>: https://wellcome.org/sites/default/files/2021-11/wgm_full_wave2_public_file.zip</a:t>
            </a:r>
            <a:endParaRPr lang="en-US" sz="1800" dirty="0">
              <a:solidFill>
                <a:schemeClr val="accent1">
                  <a:lumMod val="50000"/>
                </a:schemeClr>
              </a:solidFill>
            </a:endParaRPr>
          </a:p>
        </p:txBody>
      </p:sp>
      <p:pic>
        <p:nvPicPr>
          <p:cNvPr id="1026" name="Picture 1">
            <a:extLst>
              <a:ext uri="{FF2B5EF4-FFF2-40B4-BE49-F238E27FC236}">
                <a16:creationId xmlns:a16="http://schemas.microsoft.com/office/drawing/2014/main" id="{2CBB13F5-D7F3-7256-C188-02472D23BE9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58175" y="6199929"/>
            <a:ext cx="6216582" cy="1997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522310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7281902-B235-F023-39D1-F93AC6EB6426}"/>
              </a:ext>
            </a:extLst>
          </p:cNvPr>
          <p:cNvSpPr txBox="1"/>
          <p:nvPr/>
        </p:nvSpPr>
        <p:spPr>
          <a:xfrm>
            <a:off x="258399" y="328612"/>
            <a:ext cx="5486400" cy="646331"/>
          </a:xfrm>
          <a:prstGeom prst="rect">
            <a:avLst/>
          </a:prstGeom>
          <a:noFill/>
        </p:spPr>
        <p:txBody>
          <a:bodyPr wrap="square" rtlCol="0">
            <a:spAutoFit/>
          </a:bodyPr>
          <a:lstStyle/>
          <a:p>
            <a:r>
              <a:rPr lang="en-IN" sz="3600" dirty="0">
                <a:latin typeface="Host Grotesk Medium" panose="020B0604020202020204" charset="0"/>
              </a:rPr>
              <a:t>DATA CLEANING</a:t>
            </a:r>
          </a:p>
        </p:txBody>
      </p:sp>
      <p:pic>
        <p:nvPicPr>
          <p:cNvPr id="6" name="Picture 5">
            <a:extLst>
              <a:ext uri="{FF2B5EF4-FFF2-40B4-BE49-F238E27FC236}">
                <a16:creationId xmlns:a16="http://schemas.microsoft.com/office/drawing/2014/main" id="{72A07BF2-F865-8D45-F314-4BC00A430E76}"/>
              </a:ext>
            </a:extLst>
          </p:cNvPr>
          <p:cNvPicPr>
            <a:picLocks noChangeAspect="1"/>
          </p:cNvPicPr>
          <p:nvPr/>
        </p:nvPicPr>
        <p:blipFill>
          <a:blip r:embed="rId2"/>
          <a:stretch>
            <a:fillRect/>
          </a:stretch>
        </p:blipFill>
        <p:spPr>
          <a:xfrm>
            <a:off x="428626" y="1391501"/>
            <a:ext cx="6063617" cy="1757815"/>
          </a:xfrm>
          <a:prstGeom prst="rect">
            <a:avLst/>
          </a:prstGeom>
        </p:spPr>
      </p:pic>
      <p:pic>
        <p:nvPicPr>
          <p:cNvPr id="8" name="Picture 7">
            <a:extLst>
              <a:ext uri="{FF2B5EF4-FFF2-40B4-BE49-F238E27FC236}">
                <a16:creationId xmlns:a16="http://schemas.microsoft.com/office/drawing/2014/main" id="{EB9A65B8-B112-9F44-A89B-68D71C4D19AD}"/>
              </a:ext>
            </a:extLst>
          </p:cNvPr>
          <p:cNvPicPr>
            <a:picLocks noChangeAspect="1"/>
          </p:cNvPicPr>
          <p:nvPr/>
        </p:nvPicPr>
        <p:blipFill>
          <a:blip r:embed="rId3"/>
          <a:stretch>
            <a:fillRect/>
          </a:stretch>
        </p:blipFill>
        <p:spPr>
          <a:xfrm>
            <a:off x="7834110" y="1047937"/>
            <a:ext cx="5751261" cy="2429807"/>
          </a:xfrm>
          <a:prstGeom prst="rect">
            <a:avLst/>
          </a:prstGeom>
        </p:spPr>
      </p:pic>
      <p:pic>
        <p:nvPicPr>
          <p:cNvPr id="10" name="Picture 9">
            <a:extLst>
              <a:ext uri="{FF2B5EF4-FFF2-40B4-BE49-F238E27FC236}">
                <a16:creationId xmlns:a16="http://schemas.microsoft.com/office/drawing/2014/main" id="{A6BAE778-180A-D51B-7679-60454429F116}"/>
              </a:ext>
            </a:extLst>
          </p:cNvPr>
          <p:cNvPicPr>
            <a:picLocks noChangeAspect="1"/>
          </p:cNvPicPr>
          <p:nvPr/>
        </p:nvPicPr>
        <p:blipFill>
          <a:blip r:embed="rId4"/>
          <a:stretch>
            <a:fillRect/>
          </a:stretch>
        </p:blipFill>
        <p:spPr>
          <a:xfrm>
            <a:off x="428626" y="3612031"/>
            <a:ext cx="2943636" cy="866896"/>
          </a:xfrm>
          <a:prstGeom prst="rect">
            <a:avLst/>
          </a:prstGeom>
        </p:spPr>
      </p:pic>
      <p:pic>
        <p:nvPicPr>
          <p:cNvPr id="13" name="Picture 12">
            <a:extLst>
              <a:ext uri="{FF2B5EF4-FFF2-40B4-BE49-F238E27FC236}">
                <a16:creationId xmlns:a16="http://schemas.microsoft.com/office/drawing/2014/main" id="{493F1919-C803-FD61-3DFF-0DECF8C3378B}"/>
              </a:ext>
            </a:extLst>
          </p:cNvPr>
          <p:cNvPicPr>
            <a:picLocks noChangeAspect="1"/>
          </p:cNvPicPr>
          <p:nvPr/>
        </p:nvPicPr>
        <p:blipFill>
          <a:blip r:embed="rId5"/>
          <a:stretch>
            <a:fillRect/>
          </a:stretch>
        </p:blipFill>
        <p:spPr>
          <a:xfrm>
            <a:off x="258399" y="5226001"/>
            <a:ext cx="7917088" cy="2566307"/>
          </a:xfrm>
          <a:prstGeom prst="rect">
            <a:avLst/>
          </a:prstGeom>
        </p:spPr>
      </p:pic>
      <p:pic>
        <p:nvPicPr>
          <p:cNvPr id="15" name="Picture 14">
            <a:extLst>
              <a:ext uri="{FF2B5EF4-FFF2-40B4-BE49-F238E27FC236}">
                <a16:creationId xmlns:a16="http://schemas.microsoft.com/office/drawing/2014/main" id="{3267F12C-6B7B-0748-530F-FF3A4ABFE123}"/>
              </a:ext>
            </a:extLst>
          </p:cNvPr>
          <p:cNvPicPr>
            <a:picLocks noChangeAspect="1"/>
          </p:cNvPicPr>
          <p:nvPr/>
        </p:nvPicPr>
        <p:blipFill>
          <a:blip r:embed="rId6"/>
          <a:stretch>
            <a:fillRect/>
          </a:stretch>
        </p:blipFill>
        <p:spPr>
          <a:xfrm>
            <a:off x="11650569" y="3677799"/>
            <a:ext cx="2943636" cy="4014576"/>
          </a:xfrm>
          <a:prstGeom prst="rect">
            <a:avLst/>
          </a:prstGeom>
        </p:spPr>
      </p:pic>
      <p:sp>
        <p:nvSpPr>
          <p:cNvPr id="16" name="TextBox 15">
            <a:extLst>
              <a:ext uri="{FF2B5EF4-FFF2-40B4-BE49-F238E27FC236}">
                <a16:creationId xmlns:a16="http://schemas.microsoft.com/office/drawing/2014/main" id="{BC688E31-9DC6-BBE4-ADC1-AE20CE7EE77C}"/>
              </a:ext>
            </a:extLst>
          </p:cNvPr>
          <p:cNvSpPr txBox="1"/>
          <p:nvPr/>
        </p:nvSpPr>
        <p:spPr>
          <a:xfrm>
            <a:off x="258399" y="936152"/>
            <a:ext cx="5206366" cy="400110"/>
          </a:xfrm>
          <a:prstGeom prst="rect">
            <a:avLst/>
          </a:prstGeom>
          <a:noFill/>
        </p:spPr>
        <p:txBody>
          <a:bodyPr wrap="square" rtlCol="0">
            <a:spAutoFit/>
          </a:bodyPr>
          <a:lstStyle/>
          <a:p>
            <a:r>
              <a:rPr lang="en-IN" sz="2000" dirty="0">
                <a:latin typeface="Host Grotesk Medium" panose="020B0604020202020204" charset="0"/>
              </a:rPr>
              <a:t>Creating data frame of top 15 Countries</a:t>
            </a:r>
          </a:p>
        </p:txBody>
      </p:sp>
      <p:sp>
        <p:nvSpPr>
          <p:cNvPr id="17" name="TextBox 16">
            <a:extLst>
              <a:ext uri="{FF2B5EF4-FFF2-40B4-BE49-F238E27FC236}">
                <a16:creationId xmlns:a16="http://schemas.microsoft.com/office/drawing/2014/main" id="{B84FF540-FDF1-F3CB-B4C8-474FAFF64ADC}"/>
              </a:ext>
            </a:extLst>
          </p:cNvPr>
          <p:cNvSpPr txBox="1"/>
          <p:nvPr/>
        </p:nvSpPr>
        <p:spPr>
          <a:xfrm>
            <a:off x="258399" y="3196862"/>
            <a:ext cx="2664512" cy="400110"/>
          </a:xfrm>
          <a:prstGeom prst="rect">
            <a:avLst/>
          </a:prstGeom>
          <a:noFill/>
        </p:spPr>
        <p:txBody>
          <a:bodyPr wrap="none" rtlCol="0">
            <a:spAutoFit/>
          </a:bodyPr>
          <a:lstStyle/>
          <a:p>
            <a:r>
              <a:rPr lang="en-IN" sz="2000" dirty="0">
                <a:latin typeface="Host Grotesk Medium" panose="020B0604020202020204" charset="0"/>
              </a:rPr>
              <a:t>Shape of the dataset</a:t>
            </a:r>
          </a:p>
        </p:txBody>
      </p:sp>
      <p:sp>
        <p:nvSpPr>
          <p:cNvPr id="18" name="TextBox 17">
            <a:extLst>
              <a:ext uri="{FF2B5EF4-FFF2-40B4-BE49-F238E27FC236}">
                <a16:creationId xmlns:a16="http://schemas.microsoft.com/office/drawing/2014/main" id="{B50DA2C0-91F3-CB50-911B-9127C690CB88}"/>
              </a:ext>
            </a:extLst>
          </p:cNvPr>
          <p:cNvSpPr txBox="1"/>
          <p:nvPr/>
        </p:nvSpPr>
        <p:spPr>
          <a:xfrm>
            <a:off x="258399" y="4778345"/>
            <a:ext cx="3188693" cy="400110"/>
          </a:xfrm>
          <a:prstGeom prst="rect">
            <a:avLst/>
          </a:prstGeom>
          <a:noFill/>
        </p:spPr>
        <p:txBody>
          <a:bodyPr wrap="none" rtlCol="0">
            <a:spAutoFit/>
          </a:bodyPr>
          <a:lstStyle/>
          <a:p>
            <a:r>
              <a:rPr lang="en-IN" sz="2000" dirty="0">
                <a:latin typeface="Host Grotesk Medium" panose="020B0604020202020204" charset="0"/>
              </a:rPr>
              <a:t>Handling duplicate values</a:t>
            </a:r>
          </a:p>
        </p:txBody>
      </p:sp>
      <p:sp>
        <p:nvSpPr>
          <p:cNvPr id="19" name="TextBox 18">
            <a:extLst>
              <a:ext uri="{FF2B5EF4-FFF2-40B4-BE49-F238E27FC236}">
                <a16:creationId xmlns:a16="http://schemas.microsoft.com/office/drawing/2014/main" id="{6C51072A-3E15-5CDF-B57B-0B2A729F4868}"/>
              </a:ext>
            </a:extLst>
          </p:cNvPr>
          <p:cNvSpPr txBox="1"/>
          <p:nvPr/>
        </p:nvSpPr>
        <p:spPr>
          <a:xfrm>
            <a:off x="7834110" y="3477744"/>
            <a:ext cx="3013967" cy="400110"/>
          </a:xfrm>
          <a:prstGeom prst="rect">
            <a:avLst/>
          </a:prstGeom>
          <a:noFill/>
        </p:spPr>
        <p:txBody>
          <a:bodyPr wrap="none" rtlCol="0">
            <a:spAutoFit/>
          </a:bodyPr>
          <a:lstStyle/>
          <a:p>
            <a:r>
              <a:rPr lang="en-IN" sz="2000" dirty="0">
                <a:latin typeface="Host Grotesk Medium" panose="020B0604020202020204" charset="0"/>
              </a:rPr>
              <a:t>Handling missing values</a:t>
            </a:r>
          </a:p>
        </p:txBody>
      </p:sp>
      <p:sp>
        <p:nvSpPr>
          <p:cNvPr id="20" name="TextBox 19">
            <a:extLst>
              <a:ext uri="{FF2B5EF4-FFF2-40B4-BE49-F238E27FC236}">
                <a16:creationId xmlns:a16="http://schemas.microsoft.com/office/drawing/2014/main" id="{2B132F36-7A54-7EE1-6A5D-881079E1FC29}"/>
              </a:ext>
            </a:extLst>
          </p:cNvPr>
          <p:cNvSpPr txBox="1"/>
          <p:nvPr/>
        </p:nvSpPr>
        <p:spPr>
          <a:xfrm>
            <a:off x="7758841" y="602496"/>
            <a:ext cx="2813591" cy="400110"/>
          </a:xfrm>
          <a:prstGeom prst="rect">
            <a:avLst/>
          </a:prstGeom>
          <a:noFill/>
        </p:spPr>
        <p:txBody>
          <a:bodyPr wrap="none" rtlCol="0">
            <a:spAutoFit/>
          </a:bodyPr>
          <a:lstStyle/>
          <a:p>
            <a:r>
              <a:rPr lang="en-IN" sz="2000" dirty="0">
                <a:latin typeface="Host Grotesk Medium" panose="020B0604020202020204" charset="0"/>
              </a:rPr>
              <a:t>Countries plot on map</a:t>
            </a:r>
          </a:p>
        </p:txBody>
      </p:sp>
      <p:sp>
        <p:nvSpPr>
          <p:cNvPr id="21" name="Rectangle: Rounded Corners 20">
            <a:extLst>
              <a:ext uri="{FF2B5EF4-FFF2-40B4-BE49-F238E27FC236}">
                <a16:creationId xmlns:a16="http://schemas.microsoft.com/office/drawing/2014/main" id="{CE19E65D-CCBB-8A33-244C-7A22031D522E}"/>
              </a:ext>
            </a:extLst>
          </p:cNvPr>
          <p:cNvSpPr/>
          <p:nvPr/>
        </p:nvSpPr>
        <p:spPr>
          <a:xfrm>
            <a:off x="12859657" y="7792308"/>
            <a:ext cx="1640114" cy="306663"/>
          </a:xfrm>
          <a:prstGeom prst="roundRect">
            <a:avLst/>
          </a:prstGeom>
          <a:ln>
            <a:solidFill>
              <a:schemeClr val="bg1">
                <a:lumMod val="95000"/>
              </a:schemeClr>
            </a:solidFill>
          </a:ln>
        </p:spPr>
        <p:style>
          <a:lnRef idx="2">
            <a:schemeClr val="accent1">
              <a:shade val="15000"/>
            </a:schemeClr>
          </a:lnRef>
          <a:fillRef idx="1001">
            <a:schemeClr val="lt2"/>
          </a:fillRef>
          <a:effectRef idx="0">
            <a:schemeClr val="accent1"/>
          </a:effectRef>
          <a:fontRef idx="minor">
            <a:schemeClr val="lt1"/>
          </a:fontRef>
        </p:style>
        <p:txBody>
          <a:bodyPr rtlCol="0" anchor="ctr"/>
          <a:lstStyle/>
          <a:p>
            <a:pPr algn="ctr"/>
            <a:endParaRPr lang="en-IN"/>
          </a:p>
        </p:txBody>
      </p:sp>
      <p:pic>
        <p:nvPicPr>
          <p:cNvPr id="23" name="Picture 22">
            <a:extLst>
              <a:ext uri="{FF2B5EF4-FFF2-40B4-BE49-F238E27FC236}">
                <a16:creationId xmlns:a16="http://schemas.microsoft.com/office/drawing/2014/main" id="{F15728D8-6257-727C-9701-D857F112229E}"/>
              </a:ext>
            </a:extLst>
          </p:cNvPr>
          <p:cNvPicPr>
            <a:picLocks noChangeAspect="1"/>
          </p:cNvPicPr>
          <p:nvPr/>
        </p:nvPicPr>
        <p:blipFill>
          <a:blip r:embed="rId7"/>
          <a:stretch>
            <a:fillRect/>
          </a:stretch>
        </p:blipFill>
        <p:spPr>
          <a:xfrm>
            <a:off x="8393992" y="3971694"/>
            <a:ext cx="2943637" cy="1932438"/>
          </a:xfrm>
          <a:prstGeom prst="rect">
            <a:avLst/>
          </a:prstGeom>
        </p:spPr>
      </p:pic>
    </p:spTree>
    <p:extLst>
      <p:ext uri="{BB962C8B-B14F-4D97-AF65-F5344CB8AC3E}">
        <p14:creationId xmlns:p14="http://schemas.microsoft.com/office/powerpoint/2010/main" val="1443050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84384" y="617815"/>
            <a:ext cx="5603200" cy="700326"/>
          </a:xfrm>
          <a:prstGeom prst="rect">
            <a:avLst/>
          </a:prstGeom>
          <a:noFill/>
          <a:ln/>
        </p:spPr>
        <p:txBody>
          <a:bodyPr wrap="none" lIns="0" tIns="0" rIns="0" bIns="0" rtlCol="0" anchor="t"/>
          <a:lstStyle/>
          <a:p>
            <a:pPr marL="0" indent="0" algn="l">
              <a:lnSpc>
                <a:spcPts val="5500"/>
              </a:lnSpc>
              <a:buNone/>
            </a:pPr>
            <a:r>
              <a:rPr lang="en-US" sz="4400" dirty="0">
                <a:solidFill>
                  <a:srgbClr val="2E3C4E"/>
                </a:solidFill>
                <a:latin typeface="Host Grotesk Medium" pitchFamily="34" charset="0"/>
                <a:ea typeface="Host Grotesk Medium" pitchFamily="34" charset="-122"/>
                <a:cs typeface="Host Grotesk Medium" pitchFamily="34" charset="-120"/>
              </a:rPr>
              <a:t>Feature Engineering</a:t>
            </a:r>
            <a:endParaRPr lang="en-US" sz="4400" dirty="0"/>
          </a:p>
        </p:txBody>
      </p:sp>
      <p:sp>
        <p:nvSpPr>
          <p:cNvPr id="3" name="Text 1"/>
          <p:cNvSpPr/>
          <p:nvPr/>
        </p:nvSpPr>
        <p:spPr>
          <a:xfrm>
            <a:off x="784384" y="1766292"/>
            <a:ext cx="13061633" cy="336113"/>
          </a:xfrm>
          <a:prstGeom prst="rect">
            <a:avLst/>
          </a:prstGeom>
          <a:noFill/>
          <a:ln/>
        </p:spPr>
        <p:txBody>
          <a:bodyPr wrap="none" lIns="0" tIns="0" rIns="0" bIns="0" rtlCol="0" anchor="t"/>
          <a:lstStyle/>
          <a:p>
            <a:pPr marL="0" indent="0" algn="l">
              <a:lnSpc>
                <a:spcPts val="2600"/>
              </a:lnSpc>
              <a:buNone/>
            </a:pPr>
            <a:r>
              <a:rPr lang="en-US" sz="1750" dirty="0">
                <a:solidFill>
                  <a:srgbClr val="384653"/>
                </a:solidFill>
                <a:latin typeface="Roboto" pitchFamily="34" charset="0"/>
                <a:ea typeface="Roboto" pitchFamily="34" charset="-122"/>
                <a:cs typeface="Roboto" pitchFamily="34" charset="-120"/>
              </a:rPr>
              <a:t>Transformed raw data into meaningful features for deeper insights and model building.</a:t>
            </a:r>
            <a:endParaRPr lang="en-US" sz="1750" dirty="0"/>
          </a:p>
        </p:txBody>
      </p:sp>
      <p:sp>
        <p:nvSpPr>
          <p:cNvPr id="4" name="Shape 2"/>
          <p:cNvSpPr/>
          <p:nvPr/>
        </p:nvSpPr>
        <p:spPr>
          <a:xfrm>
            <a:off x="784384" y="2354461"/>
            <a:ext cx="6418778" cy="2516624"/>
          </a:xfrm>
          <a:prstGeom prst="roundRect">
            <a:avLst>
              <a:gd name="adj" fmla="val 3741"/>
            </a:avLst>
          </a:prstGeom>
          <a:solidFill>
            <a:srgbClr val="D9EDF2"/>
          </a:solidFill>
          <a:ln w="7620">
            <a:solidFill>
              <a:srgbClr val="BFD3D8"/>
            </a:solidFill>
            <a:prstDash val="solid"/>
          </a:ln>
        </p:spPr>
      </p:sp>
      <p:pic>
        <p:nvPicPr>
          <p:cNvPr id="5" name="Image 0" descr="preencoded.png"/>
          <p:cNvPicPr>
            <a:picLocks noChangeAspect="1"/>
          </p:cNvPicPr>
          <p:nvPr/>
        </p:nvPicPr>
        <p:blipFill>
          <a:blip r:embed="rId3"/>
          <a:stretch>
            <a:fillRect/>
          </a:stretch>
        </p:blipFill>
        <p:spPr>
          <a:xfrm>
            <a:off x="1016079" y="2586157"/>
            <a:ext cx="672346" cy="672346"/>
          </a:xfrm>
          <a:prstGeom prst="rect">
            <a:avLst/>
          </a:prstGeom>
        </p:spPr>
      </p:pic>
      <p:pic>
        <p:nvPicPr>
          <p:cNvPr id="6" name="Image 1" descr="preencoded.png"/>
          <p:cNvPicPr>
            <a:picLocks noChangeAspect="1"/>
          </p:cNvPicPr>
          <p:nvPr/>
        </p:nvPicPr>
        <p:blipFill>
          <a:blip r:embed="rId4"/>
          <a:stretch>
            <a:fillRect/>
          </a:stretch>
        </p:blipFill>
        <p:spPr>
          <a:xfrm>
            <a:off x="1200983" y="2733199"/>
            <a:ext cx="302538" cy="378143"/>
          </a:xfrm>
          <a:prstGeom prst="rect">
            <a:avLst/>
          </a:prstGeom>
        </p:spPr>
      </p:pic>
      <p:sp>
        <p:nvSpPr>
          <p:cNvPr id="7" name="Text 3"/>
          <p:cNvSpPr/>
          <p:nvPr/>
        </p:nvSpPr>
        <p:spPr>
          <a:xfrm>
            <a:off x="1016079" y="3482578"/>
            <a:ext cx="2801541" cy="350163"/>
          </a:xfrm>
          <a:prstGeom prst="rect">
            <a:avLst/>
          </a:prstGeom>
          <a:noFill/>
          <a:ln/>
        </p:spPr>
        <p:txBody>
          <a:bodyPr wrap="none" lIns="0" tIns="0" rIns="0" bIns="0" rtlCol="0" anchor="t"/>
          <a:lstStyle/>
          <a:p>
            <a:pPr marL="0" indent="0" algn="l">
              <a:lnSpc>
                <a:spcPts val="2750"/>
              </a:lnSpc>
              <a:buNone/>
            </a:pPr>
            <a:r>
              <a:rPr lang="en-US" sz="2200" dirty="0">
                <a:solidFill>
                  <a:srgbClr val="384653"/>
                </a:solidFill>
                <a:latin typeface="Host Grotesk Medium" pitchFamily="34" charset="0"/>
                <a:ea typeface="Host Grotesk Medium" pitchFamily="34" charset="-122"/>
                <a:cs typeface="Host Grotesk Medium" pitchFamily="34" charset="-120"/>
              </a:rPr>
              <a:t>Age-Based Features</a:t>
            </a:r>
            <a:endParaRPr lang="en-US" sz="2200" dirty="0"/>
          </a:p>
        </p:txBody>
      </p:sp>
      <p:sp>
        <p:nvSpPr>
          <p:cNvPr id="8" name="Text 4"/>
          <p:cNvSpPr/>
          <p:nvPr/>
        </p:nvSpPr>
        <p:spPr>
          <a:xfrm>
            <a:off x="1016079" y="3967163"/>
            <a:ext cx="5955387" cy="672227"/>
          </a:xfrm>
          <a:prstGeom prst="rect">
            <a:avLst/>
          </a:prstGeom>
          <a:noFill/>
          <a:ln/>
        </p:spPr>
        <p:txBody>
          <a:bodyPr wrap="square" lIns="0" tIns="0" rIns="0" bIns="0" rtlCol="0" anchor="t"/>
          <a:lstStyle/>
          <a:p>
            <a:pPr marL="0" indent="0" algn="l">
              <a:lnSpc>
                <a:spcPts val="2600"/>
              </a:lnSpc>
              <a:buNone/>
            </a:pPr>
            <a:r>
              <a:rPr lang="en-US" sz="1750" dirty="0">
                <a:solidFill>
                  <a:srgbClr val="384653"/>
                </a:solidFill>
                <a:latin typeface="Roboto" pitchFamily="34" charset="0"/>
                <a:ea typeface="Roboto" pitchFamily="34" charset="-122"/>
                <a:cs typeface="Roboto" pitchFamily="34" charset="-120"/>
              </a:rPr>
              <a:t>Categorized age groups and analyzed age at onset of anxiety/depression.</a:t>
            </a:r>
            <a:endParaRPr lang="en-US" sz="1750" dirty="0"/>
          </a:p>
        </p:txBody>
      </p:sp>
      <p:sp>
        <p:nvSpPr>
          <p:cNvPr id="9" name="Shape 5"/>
          <p:cNvSpPr/>
          <p:nvPr/>
        </p:nvSpPr>
        <p:spPr>
          <a:xfrm>
            <a:off x="7427238" y="2354461"/>
            <a:ext cx="6418778" cy="2516624"/>
          </a:xfrm>
          <a:prstGeom prst="roundRect">
            <a:avLst>
              <a:gd name="adj" fmla="val 3741"/>
            </a:avLst>
          </a:prstGeom>
          <a:solidFill>
            <a:srgbClr val="D9EDF2"/>
          </a:solidFill>
          <a:ln w="7620">
            <a:solidFill>
              <a:srgbClr val="BFD3D8"/>
            </a:solidFill>
            <a:prstDash val="solid"/>
          </a:ln>
        </p:spPr>
      </p:sp>
      <p:pic>
        <p:nvPicPr>
          <p:cNvPr id="10" name="Image 2" descr="preencoded.png"/>
          <p:cNvPicPr>
            <a:picLocks noChangeAspect="1"/>
          </p:cNvPicPr>
          <p:nvPr/>
        </p:nvPicPr>
        <p:blipFill>
          <a:blip r:embed="rId5"/>
          <a:stretch>
            <a:fillRect/>
          </a:stretch>
        </p:blipFill>
        <p:spPr>
          <a:xfrm>
            <a:off x="7658933" y="2586157"/>
            <a:ext cx="672346" cy="672346"/>
          </a:xfrm>
          <a:prstGeom prst="rect">
            <a:avLst/>
          </a:prstGeom>
        </p:spPr>
      </p:pic>
      <p:pic>
        <p:nvPicPr>
          <p:cNvPr id="11" name="Image 3" descr="preencoded.png"/>
          <p:cNvPicPr>
            <a:picLocks noChangeAspect="1"/>
          </p:cNvPicPr>
          <p:nvPr/>
        </p:nvPicPr>
        <p:blipFill>
          <a:blip r:embed="rId6"/>
          <a:stretch>
            <a:fillRect/>
          </a:stretch>
        </p:blipFill>
        <p:spPr>
          <a:xfrm>
            <a:off x="7843838" y="2733199"/>
            <a:ext cx="302538" cy="378143"/>
          </a:xfrm>
          <a:prstGeom prst="rect">
            <a:avLst/>
          </a:prstGeom>
        </p:spPr>
      </p:pic>
      <p:sp>
        <p:nvSpPr>
          <p:cNvPr id="12" name="Text 6"/>
          <p:cNvSpPr/>
          <p:nvPr/>
        </p:nvSpPr>
        <p:spPr>
          <a:xfrm>
            <a:off x="7658933" y="3482578"/>
            <a:ext cx="3478649" cy="350163"/>
          </a:xfrm>
          <a:prstGeom prst="rect">
            <a:avLst/>
          </a:prstGeom>
          <a:noFill/>
          <a:ln/>
        </p:spPr>
        <p:txBody>
          <a:bodyPr wrap="none" lIns="0" tIns="0" rIns="0" bIns="0" rtlCol="0" anchor="t"/>
          <a:lstStyle/>
          <a:p>
            <a:pPr marL="0" indent="0" algn="l">
              <a:lnSpc>
                <a:spcPts val="2750"/>
              </a:lnSpc>
              <a:buNone/>
            </a:pPr>
            <a:r>
              <a:rPr lang="en-US" sz="2200" dirty="0">
                <a:solidFill>
                  <a:srgbClr val="384653"/>
                </a:solidFill>
                <a:latin typeface="Host Grotesk Medium" pitchFamily="34" charset="0"/>
                <a:ea typeface="Host Grotesk Medium" pitchFamily="34" charset="-122"/>
                <a:cs typeface="Host Grotesk Medium" pitchFamily="34" charset="-120"/>
              </a:rPr>
              <a:t>Socio-Economic Groupings</a:t>
            </a:r>
            <a:endParaRPr lang="en-US" sz="2200" dirty="0"/>
          </a:p>
        </p:txBody>
      </p:sp>
      <p:sp>
        <p:nvSpPr>
          <p:cNvPr id="13" name="Text 7"/>
          <p:cNvSpPr/>
          <p:nvPr/>
        </p:nvSpPr>
        <p:spPr>
          <a:xfrm>
            <a:off x="7658933" y="3967163"/>
            <a:ext cx="5955387" cy="672227"/>
          </a:xfrm>
          <a:prstGeom prst="rect">
            <a:avLst/>
          </a:prstGeom>
          <a:noFill/>
          <a:ln/>
        </p:spPr>
        <p:txBody>
          <a:bodyPr wrap="square" lIns="0" tIns="0" rIns="0" bIns="0" rtlCol="0" anchor="t"/>
          <a:lstStyle/>
          <a:p>
            <a:pPr marL="0" indent="0" algn="l">
              <a:lnSpc>
                <a:spcPts val="2600"/>
              </a:lnSpc>
              <a:buNone/>
            </a:pPr>
            <a:r>
              <a:rPr lang="en-US" sz="1750" dirty="0">
                <a:solidFill>
                  <a:srgbClr val="384653"/>
                </a:solidFill>
                <a:latin typeface="Roboto" pitchFamily="34" charset="0"/>
                <a:ea typeface="Roboto" pitchFamily="34" charset="-122"/>
                <a:cs typeface="Roboto" pitchFamily="34" charset="-120"/>
              </a:rPr>
              <a:t>Grouped income levels, education, and employment status to assess their impact.</a:t>
            </a:r>
            <a:endParaRPr lang="en-US" sz="1750" dirty="0"/>
          </a:p>
        </p:txBody>
      </p:sp>
      <p:sp>
        <p:nvSpPr>
          <p:cNvPr id="14" name="Shape 8"/>
          <p:cNvSpPr/>
          <p:nvPr/>
        </p:nvSpPr>
        <p:spPr>
          <a:xfrm>
            <a:off x="784384" y="5095161"/>
            <a:ext cx="6418778" cy="2516624"/>
          </a:xfrm>
          <a:prstGeom prst="roundRect">
            <a:avLst>
              <a:gd name="adj" fmla="val 3741"/>
            </a:avLst>
          </a:prstGeom>
          <a:solidFill>
            <a:srgbClr val="D9EDF2"/>
          </a:solidFill>
          <a:ln w="7620">
            <a:solidFill>
              <a:srgbClr val="BFD3D8"/>
            </a:solidFill>
            <a:prstDash val="solid"/>
          </a:ln>
        </p:spPr>
      </p:sp>
      <p:pic>
        <p:nvPicPr>
          <p:cNvPr id="15" name="Image 4" descr="preencoded.png"/>
          <p:cNvPicPr>
            <a:picLocks noChangeAspect="1"/>
          </p:cNvPicPr>
          <p:nvPr/>
        </p:nvPicPr>
        <p:blipFill>
          <a:blip r:embed="rId7"/>
          <a:stretch>
            <a:fillRect/>
          </a:stretch>
        </p:blipFill>
        <p:spPr>
          <a:xfrm>
            <a:off x="1016079" y="5326856"/>
            <a:ext cx="672346" cy="672346"/>
          </a:xfrm>
          <a:prstGeom prst="rect">
            <a:avLst/>
          </a:prstGeom>
        </p:spPr>
      </p:pic>
      <p:pic>
        <p:nvPicPr>
          <p:cNvPr id="16" name="Image 5" descr="preencoded.png"/>
          <p:cNvPicPr>
            <a:picLocks noChangeAspect="1"/>
          </p:cNvPicPr>
          <p:nvPr/>
        </p:nvPicPr>
        <p:blipFill>
          <a:blip r:embed="rId8"/>
          <a:stretch>
            <a:fillRect/>
          </a:stretch>
        </p:blipFill>
        <p:spPr>
          <a:xfrm>
            <a:off x="1200983" y="5473898"/>
            <a:ext cx="302538" cy="378143"/>
          </a:xfrm>
          <a:prstGeom prst="rect">
            <a:avLst/>
          </a:prstGeom>
        </p:spPr>
      </p:pic>
      <p:sp>
        <p:nvSpPr>
          <p:cNvPr id="17" name="Text 9"/>
          <p:cNvSpPr/>
          <p:nvPr/>
        </p:nvSpPr>
        <p:spPr>
          <a:xfrm>
            <a:off x="1016079" y="6223278"/>
            <a:ext cx="2801541" cy="350163"/>
          </a:xfrm>
          <a:prstGeom prst="rect">
            <a:avLst/>
          </a:prstGeom>
          <a:noFill/>
          <a:ln/>
        </p:spPr>
        <p:txBody>
          <a:bodyPr wrap="none" lIns="0" tIns="0" rIns="0" bIns="0" rtlCol="0" anchor="t"/>
          <a:lstStyle/>
          <a:p>
            <a:pPr marL="0" indent="0" algn="l">
              <a:lnSpc>
                <a:spcPts val="2750"/>
              </a:lnSpc>
              <a:buNone/>
            </a:pPr>
            <a:r>
              <a:rPr lang="en-US" sz="2200" dirty="0">
                <a:solidFill>
                  <a:srgbClr val="384653"/>
                </a:solidFill>
                <a:latin typeface="Host Grotesk Medium" pitchFamily="34" charset="0"/>
                <a:ea typeface="Host Grotesk Medium" pitchFamily="34" charset="-122"/>
                <a:cs typeface="Host Grotesk Medium" pitchFamily="34" charset="-120"/>
              </a:rPr>
              <a:t>Coping &amp; Support</a:t>
            </a:r>
            <a:endParaRPr lang="en-US" sz="2200" dirty="0"/>
          </a:p>
        </p:txBody>
      </p:sp>
      <p:sp>
        <p:nvSpPr>
          <p:cNvPr id="18" name="Text 10"/>
          <p:cNvSpPr/>
          <p:nvPr/>
        </p:nvSpPr>
        <p:spPr>
          <a:xfrm>
            <a:off x="1016079" y="6707862"/>
            <a:ext cx="5955387" cy="672227"/>
          </a:xfrm>
          <a:prstGeom prst="rect">
            <a:avLst/>
          </a:prstGeom>
          <a:noFill/>
          <a:ln/>
        </p:spPr>
        <p:txBody>
          <a:bodyPr wrap="square" lIns="0" tIns="0" rIns="0" bIns="0" rtlCol="0" anchor="t"/>
          <a:lstStyle/>
          <a:p>
            <a:pPr marL="0" indent="0" algn="l">
              <a:lnSpc>
                <a:spcPts val="2600"/>
              </a:lnSpc>
              <a:buNone/>
            </a:pPr>
            <a:r>
              <a:rPr lang="en-US" sz="1750" dirty="0">
                <a:solidFill>
                  <a:srgbClr val="384653"/>
                </a:solidFill>
                <a:latin typeface="Roboto" pitchFamily="34" charset="0"/>
                <a:ea typeface="Roboto" pitchFamily="34" charset="-122"/>
                <a:cs typeface="Roboto" pitchFamily="34" charset="-120"/>
              </a:rPr>
              <a:t>Derived features for coping mechanism effectiveness and support network strength.</a:t>
            </a:r>
            <a:endParaRPr lang="en-US" sz="1750" dirty="0"/>
          </a:p>
        </p:txBody>
      </p:sp>
      <p:sp>
        <p:nvSpPr>
          <p:cNvPr id="19" name="Shape 11"/>
          <p:cNvSpPr/>
          <p:nvPr/>
        </p:nvSpPr>
        <p:spPr>
          <a:xfrm>
            <a:off x="7427238" y="5095161"/>
            <a:ext cx="6418778" cy="2516624"/>
          </a:xfrm>
          <a:prstGeom prst="roundRect">
            <a:avLst>
              <a:gd name="adj" fmla="val 3741"/>
            </a:avLst>
          </a:prstGeom>
          <a:solidFill>
            <a:srgbClr val="D9EDF2"/>
          </a:solidFill>
          <a:ln w="7620">
            <a:solidFill>
              <a:srgbClr val="BFD3D8"/>
            </a:solidFill>
            <a:prstDash val="solid"/>
          </a:ln>
        </p:spPr>
      </p:sp>
      <p:pic>
        <p:nvPicPr>
          <p:cNvPr id="20" name="Image 6" descr="preencoded.png"/>
          <p:cNvPicPr>
            <a:picLocks noChangeAspect="1"/>
          </p:cNvPicPr>
          <p:nvPr/>
        </p:nvPicPr>
        <p:blipFill>
          <a:blip r:embed="rId9"/>
          <a:stretch>
            <a:fillRect/>
          </a:stretch>
        </p:blipFill>
        <p:spPr>
          <a:xfrm>
            <a:off x="7658933" y="5326856"/>
            <a:ext cx="672346" cy="672346"/>
          </a:xfrm>
          <a:prstGeom prst="rect">
            <a:avLst/>
          </a:prstGeom>
        </p:spPr>
      </p:pic>
      <p:pic>
        <p:nvPicPr>
          <p:cNvPr id="21" name="Image 7" descr="preencoded.png"/>
          <p:cNvPicPr>
            <a:picLocks noChangeAspect="1"/>
          </p:cNvPicPr>
          <p:nvPr/>
        </p:nvPicPr>
        <p:blipFill>
          <a:blip r:embed="rId10"/>
          <a:stretch>
            <a:fillRect/>
          </a:stretch>
        </p:blipFill>
        <p:spPr>
          <a:xfrm>
            <a:off x="7843838" y="5473898"/>
            <a:ext cx="302538" cy="378143"/>
          </a:xfrm>
          <a:prstGeom prst="rect">
            <a:avLst/>
          </a:prstGeom>
        </p:spPr>
      </p:pic>
      <p:sp>
        <p:nvSpPr>
          <p:cNvPr id="22" name="Text 12"/>
          <p:cNvSpPr/>
          <p:nvPr/>
        </p:nvSpPr>
        <p:spPr>
          <a:xfrm>
            <a:off x="7658933" y="6223278"/>
            <a:ext cx="2952155" cy="350163"/>
          </a:xfrm>
          <a:prstGeom prst="rect">
            <a:avLst/>
          </a:prstGeom>
          <a:noFill/>
          <a:ln/>
        </p:spPr>
        <p:txBody>
          <a:bodyPr wrap="none" lIns="0" tIns="0" rIns="0" bIns="0" rtlCol="0" anchor="t"/>
          <a:lstStyle/>
          <a:p>
            <a:pPr marL="0" indent="0" algn="l">
              <a:lnSpc>
                <a:spcPts val="2750"/>
              </a:lnSpc>
              <a:buNone/>
            </a:pPr>
            <a:r>
              <a:rPr lang="en-US" sz="2200" dirty="0">
                <a:solidFill>
                  <a:srgbClr val="384653"/>
                </a:solidFill>
                <a:latin typeface="Host Grotesk Medium" pitchFamily="34" charset="0"/>
                <a:ea typeface="Host Grotesk Medium" pitchFamily="34" charset="-122"/>
                <a:cs typeface="Host Grotesk Medium" pitchFamily="34" charset="-120"/>
              </a:rPr>
              <a:t>Psychological Attitudes</a:t>
            </a:r>
            <a:endParaRPr lang="en-US" sz="2200" dirty="0"/>
          </a:p>
        </p:txBody>
      </p:sp>
      <p:sp>
        <p:nvSpPr>
          <p:cNvPr id="23" name="Text 13"/>
          <p:cNvSpPr/>
          <p:nvPr/>
        </p:nvSpPr>
        <p:spPr>
          <a:xfrm>
            <a:off x="7658933" y="6707862"/>
            <a:ext cx="5955387" cy="672227"/>
          </a:xfrm>
          <a:prstGeom prst="rect">
            <a:avLst/>
          </a:prstGeom>
          <a:noFill/>
          <a:ln/>
        </p:spPr>
        <p:txBody>
          <a:bodyPr wrap="square" lIns="0" tIns="0" rIns="0" bIns="0" rtlCol="0" anchor="t"/>
          <a:lstStyle/>
          <a:p>
            <a:pPr marL="0" indent="0" algn="l">
              <a:lnSpc>
                <a:spcPts val="2600"/>
              </a:lnSpc>
              <a:buNone/>
            </a:pPr>
            <a:r>
              <a:rPr lang="en-US" sz="1750" dirty="0">
                <a:solidFill>
                  <a:srgbClr val="384653"/>
                </a:solidFill>
                <a:latin typeface="Roboto" pitchFamily="34" charset="0"/>
                <a:ea typeface="Roboto" pitchFamily="34" charset="-122"/>
                <a:cs typeface="Roboto" pitchFamily="34" charset="-120"/>
              </a:rPr>
              <a:t>Combined responses on trust in science and its influence on mental health awareness.</a:t>
            </a:r>
            <a:endParaRPr lang="en-US" sz="1750" dirty="0"/>
          </a:p>
        </p:txBody>
      </p:sp>
      <p:sp>
        <p:nvSpPr>
          <p:cNvPr id="24" name="Rectangle: Rounded Corners 23">
            <a:extLst>
              <a:ext uri="{FF2B5EF4-FFF2-40B4-BE49-F238E27FC236}">
                <a16:creationId xmlns:a16="http://schemas.microsoft.com/office/drawing/2014/main" id="{9D93DD9E-BA65-874B-B87C-3D3557E7F3A4}"/>
              </a:ext>
            </a:extLst>
          </p:cNvPr>
          <p:cNvSpPr/>
          <p:nvPr/>
        </p:nvSpPr>
        <p:spPr>
          <a:xfrm>
            <a:off x="12827132" y="7718156"/>
            <a:ext cx="1679282" cy="371959"/>
          </a:xfrm>
          <a:prstGeom prst="roundRect">
            <a:avLst/>
          </a:prstGeom>
          <a:ln>
            <a:solidFill>
              <a:schemeClr val="bg1">
                <a:lumMod val="85000"/>
              </a:schemeClr>
            </a:solidFill>
          </a:ln>
        </p:spPr>
        <p:style>
          <a:lnRef idx="2">
            <a:schemeClr val="accent1">
              <a:shade val="15000"/>
            </a:schemeClr>
          </a:lnRef>
          <a:fillRef idx="1001">
            <a:schemeClr val="lt2"/>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1085017"/>
            <a:ext cx="8285202" cy="708779"/>
          </a:xfrm>
          <a:prstGeom prst="rect">
            <a:avLst/>
          </a:prstGeom>
          <a:noFill/>
          <a:ln/>
        </p:spPr>
        <p:txBody>
          <a:bodyPr wrap="none" lIns="0" tIns="0" rIns="0" bIns="0" rtlCol="0" anchor="t"/>
          <a:lstStyle/>
          <a:p>
            <a:pPr marL="0" indent="0" algn="l">
              <a:lnSpc>
                <a:spcPts val="5550"/>
              </a:lnSpc>
              <a:buNone/>
            </a:pPr>
            <a:r>
              <a:rPr lang="en-US" sz="4450" dirty="0">
                <a:solidFill>
                  <a:srgbClr val="2E3C4E"/>
                </a:solidFill>
                <a:latin typeface="Host Grotesk Medium" pitchFamily="34" charset="0"/>
                <a:ea typeface="Host Grotesk Medium" pitchFamily="34" charset="-122"/>
                <a:cs typeface="Host Grotesk Medium" pitchFamily="34" charset="-120"/>
              </a:rPr>
              <a:t>Exploratory Data Analysis (EDA)</a:t>
            </a:r>
            <a:endParaRPr lang="en-US" sz="4450" dirty="0"/>
          </a:p>
        </p:txBody>
      </p:sp>
      <p:sp>
        <p:nvSpPr>
          <p:cNvPr id="3" name="Text 1"/>
          <p:cNvSpPr/>
          <p:nvPr/>
        </p:nvSpPr>
        <p:spPr>
          <a:xfrm>
            <a:off x="793790" y="2247424"/>
            <a:ext cx="13042821" cy="340162"/>
          </a:xfrm>
          <a:prstGeom prst="rect">
            <a:avLst/>
          </a:prstGeom>
          <a:noFill/>
          <a:ln/>
        </p:spPr>
        <p:txBody>
          <a:bodyPr wrap="none" lIns="0" tIns="0" rIns="0" bIns="0" rtlCol="0" anchor="t"/>
          <a:lstStyle/>
          <a:p>
            <a:pPr marL="0" indent="0" algn="l">
              <a:lnSpc>
                <a:spcPts val="2650"/>
              </a:lnSpc>
              <a:buNone/>
            </a:pPr>
            <a:r>
              <a:rPr lang="en-US" sz="1750" dirty="0">
                <a:solidFill>
                  <a:srgbClr val="384653"/>
                </a:solidFill>
                <a:latin typeface="Roboto" pitchFamily="34" charset="0"/>
                <a:ea typeface="Roboto" pitchFamily="34" charset="-122"/>
                <a:cs typeface="Roboto" pitchFamily="34" charset="-120"/>
              </a:rPr>
              <a:t>EDA revealed key insights into the dataset's characteristics and mental health trends.</a:t>
            </a:r>
            <a:endParaRPr lang="en-US" sz="1750" dirty="0"/>
          </a:p>
        </p:txBody>
      </p:sp>
      <p:sp>
        <p:nvSpPr>
          <p:cNvPr id="4" name="Text 2"/>
          <p:cNvSpPr/>
          <p:nvPr/>
        </p:nvSpPr>
        <p:spPr>
          <a:xfrm>
            <a:off x="793790" y="3069550"/>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E3C4E"/>
                </a:solidFill>
                <a:latin typeface="Host Grotesk Medium" pitchFamily="34" charset="0"/>
                <a:ea typeface="Host Grotesk Medium" pitchFamily="34" charset="-122"/>
                <a:cs typeface="Host Grotesk Medium" pitchFamily="34" charset="-120"/>
              </a:rPr>
              <a:t>Key Findings:</a:t>
            </a:r>
            <a:endParaRPr lang="en-US" sz="2200" dirty="0"/>
          </a:p>
        </p:txBody>
      </p:sp>
      <p:sp>
        <p:nvSpPr>
          <p:cNvPr id="5" name="Text 3"/>
          <p:cNvSpPr/>
          <p:nvPr/>
        </p:nvSpPr>
        <p:spPr>
          <a:xfrm>
            <a:off x="793790" y="3650694"/>
            <a:ext cx="6244709" cy="680323"/>
          </a:xfrm>
          <a:prstGeom prst="rect">
            <a:avLst/>
          </a:prstGeom>
          <a:noFill/>
          <a:ln/>
        </p:spPr>
        <p:txBody>
          <a:bodyPr wrap="square" lIns="0" tIns="0" rIns="0" bIns="0" rtlCol="0" anchor="t"/>
          <a:lstStyle/>
          <a:p>
            <a:pPr marL="342900" indent="-342900" algn="l">
              <a:lnSpc>
                <a:spcPts val="2650"/>
              </a:lnSpc>
              <a:buSzPct val="100000"/>
              <a:buChar char="•"/>
            </a:pPr>
            <a:r>
              <a:rPr lang="en-US" sz="1750" b="1" dirty="0">
                <a:solidFill>
                  <a:srgbClr val="384653"/>
                </a:solidFill>
                <a:latin typeface="Roboto" pitchFamily="34" charset="0"/>
                <a:ea typeface="Roboto" pitchFamily="34" charset="-122"/>
                <a:cs typeface="Roboto" pitchFamily="34" charset="-120"/>
              </a:rPr>
              <a:t>China and India</a:t>
            </a:r>
            <a:r>
              <a:rPr lang="en-US" sz="1750" dirty="0">
                <a:solidFill>
                  <a:srgbClr val="384653"/>
                </a:solidFill>
                <a:latin typeface="Roboto" pitchFamily="34" charset="0"/>
                <a:ea typeface="Roboto" pitchFamily="34" charset="-122"/>
                <a:cs typeface="Roboto" pitchFamily="34" charset="-120"/>
              </a:rPr>
              <a:t> report the highest number of mental health cases.</a:t>
            </a:r>
            <a:endParaRPr lang="en-US" sz="1750" dirty="0"/>
          </a:p>
        </p:txBody>
      </p:sp>
      <p:sp>
        <p:nvSpPr>
          <p:cNvPr id="6" name="Text 4"/>
          <p:cNvSpPr/>
          <p:nvPr/>
        </p:nvSpPr>
        <p:spPr>
          <a:xfrm>
            <a:off x="793790" y="4410313"/>
            <a:ext cx="6244709" cy="680323"/>
          </a:xfrm>
          <a:prstGeom prst="rect">
            <a:avLst/>
          </a:prstGeom>
          <a:noFill/>
          <a:ln/>
        </p:spPr>
        <p:txBody>
          <a:bodyPr wrap="square" lIns="0" tIns="0" rIns="0" bIns="0" rtlCol="0" anchor="t"/>
          <a:lstStyle/>
          <a:p>
            <a:pPr marL="342900" indent="-342900" algn="l">
              <a:lnSpc>
                <a:spcPts val="2650"/>
              </a:lnSpc>
              <a:buSzPct val="100000"/>
              <a:buChar char="•"/>
            </a:pPr>
            <a:r>
              <a:rPr lang="en-US" sz="1750" dirty="0">
                <a:solidFill>
                  <a:srgbClr val="384653"/>
                </a:solidFill>
                <a:latin typeface="Roboto" pitchFamily="34" charset="0"/>
                <a:ea typeface="Roboto" pitchFamily="34" charset="-122"/>
                <a:cs typeface="Roboto" pitchFamily="34" charset="-120"/>
              </a:rPr>
              <a:t>Peak age for first anxiety/depression experience is around </a:t>
            </a:r>
            <a:r>
              <a:rPr lang="en-US" sz="1750" b="1" dirty="0">
                <a:solidFill>
                  <a:srgbClr val="384653"/>
                </a:solidFill>
                <a:latin typeface="Roboto" pitchFamily="34" charset="0"/>
                <a:ea typeface="Roboto" pitchFamily="34" charset="-122"/>
                <a:cs typeface="Roboto" pitchFamily="34" charset="-120"/>
              </a:rPr>
              <a:t>18-20 years old</a:t>
            </a:r>
            <a:r>
              <a:rPr lang="en-US" sz="1750" dirty="0">
                <a:solidFill>
                  <a:srgbClr val="384653"/>
                </a:solidFill>
                <a:latin typeface="Roboto" pitchFamily="34" charset="0"/>
                <a:ea typeface="Roboto" pitchFamily="34" charset="-122"/>
                <a:cs typeface="Roboto" pitchFamily="34" charset="-120"/>
              </a:rPr>
              <a:t>.</a:t>
            </a:r>
            <a:endParaRPr lang="en-US" sz="1750" dirty="0"/>
          </a:p>
        </p:txBody>
      </p:sp>
      <p:sp>
        <p:nvSpPr>
          <p:cNvPr id="7" name="Text 5"/>
          <p:cNvSpPr/>
          <p:nvPr/>
        </p:nvSpPr>
        <p:spPr>
          <a:xfrm>
            <a:off x="793790" y="5169932"/>
            <a:ext cx="6244709" cy="680323"/>
          </a:xfrm>
          <a:prstGeom prst="rect">
            <a:avLst/>
          </a:prstGeom>
          <a:noFill/>
          <a:ln/>
        </p:spPr>
        <p:txBody>
          <a:bodyPr wrap="square" lIns="0" tIns="0" rIns="0" bIns="0" rtlCol="0" anchor="t"/>
          <a:lstStyle/>
          <a:p>
            <a:pPr marL="342900" indent="-342900" algn="l">
              <a:lnSpc>
                <a:spcPts val="2650"/>
              </a:lnSpc>
              <a:buSzPct val="100000"/>
              <a:buChar char="•"/>
            </a:pPr>
            <a:r>
              <a:rPr lang="en-US" sz="1750" b="1" dirty="0">
                <a:solidFill>
                  <a:srgbClr val="384653"/>
                </a:solidFill>
                <a:latin typeface="Roboto" pitchFamily="34" charset="0"/>
                <a:ea typeface="Roboto" pitchFamily="34" charset="-122"/>
                <a:cs typeface="Roboto" pitchFamily="34" charset="-120"/>
              </a:rPr>
              <a:t>26-35 age group</a:t>
            </a:r>
            <a:r>
              <a:rPr lang="en-US" sz="1750" dirty="0">
                <a:solidFill>
                  <a:srgbClr val="384653"/>
                </a:solidFill>
                <a:latin typeface="Roboto" pitchFamily="34" charset="0"/>
                <a:ea typeface="Roboto" pitchFamily="34" charset="-122"/>
                <a:cs typeface="Roboto" pitchFamily="34" charset="-120"/>
              </a:rPr>
              <a:t> shows the highest number of individuals reporting good mental health.</a:t>
            </a:r>
            <a:endParaRPr lang="en-US" sz="1750" dirty="0"/>
          </a:p>
        </p:txBody>
      </p:sp>
      <p:sp>
        <p:nvSpPr>
          <p:cNvPr id="8" name="Text 6"/>
          <p:cNvSpPr/>
          <p:nvPr/>
        </p:nvSpPr>
        <p:spPr>
          <a:xfrm>
            <a:off x="793790" y="5929551"/>
            <a:ext cx="6244709" cy="680323"/>
          </a:xfrm>
          <a:prstGeom prst="rect">
            <a:avLst/>
          </a:prstGeom>
          <a:noFill/>
          <a:ln/>
        </p:spPr>
        <p:txBody>
          <a:bodyPr wrap="square" lIns="0" tIns="0" rIns="0" bIns="0" rtlCol="0" anchor="t"/>
          <a:lstStyle/>
          <a:p>
            <a:pPr marL="342900" indent="-342900" algn="l">
              <a:lnSpc>
                <a:spcPts val="2650"/>
              </a:lnSpc>
              <a:buSzPct val="100000"/>
              <a:buChar char="•"/>
            </a:pPr>
            <a:r>
              <a:rPr lang="en-US" sz="1750" b="1" dirty="0">
                <a:solidFill>
                  <a:srgbClr val="384653"/>
                </a:solidFill>
                <a:latin typeface="Roboto" pitchFamily="34" charset="0"/>
                <a:ea typeface="Roboto" pitchFamily="34" charset="-122"/>
                <a:cs typeface="Roboto" pitchFamily="34" charset="-120"/>
              </a:rPr>
              <a:t>Higher trust in science</a:t>
            </a:r>
            <a:r>
              <a:rPr lang="en-US" sz="1750" dirty="0">
                <a:solidFill>
                  <a:srgbClr val="384653"/>
                </a:solidFill>
                <a:latin typeface="Roboto" pitchFamily="34" charset="0"/>
                <a:ea typeface="Roboto" pitchFamily="34" charset="-122"/>
                <a:cs typeface="Roboto" pitchFamily="34" charset="-120"/>
              </a:rPr>
              <a:t> is associated with higher percentages of good mental health.</a:t>
            </a:r>
            <a:endParaRPr lang="en-US" sz="1750" dirty="0"/>
          </a:p>
        </p:txBody>
      </p:sp>
      <p:pic>
        <p:nvPicPr>
          <p:cNvPr id="9" name="Image 0" descr="preencoded.png"/>
          <p:cNvPicPr>
            <a:picLocks noChangeAspect="1"/>
          </p:cNvPicPr>
          <p:nvPr/>
        </p:nvPicPr>
        <p:blipFill>
          <a:blip r:embed="rId3"/>
          <a:stretch>
            <a:fillRect/>
          </a:stretch>
        </p:blipFill>
        <p:spPr>
          <a:xfrm>
            <a:off x="7591903" y="4448718"/>
            <a:ext cx="5390619" cy="2803073"/>
          </a:xfrm>
          <a:prstGeom prst="rect">
            <a:avLst/>
          </a:prstGeom>
        </p:spPr>
      </p:pic>
      <p:sp>
        <p:nvSpPr>
          <p:cNvPr id="10" name="Text 7"/>
          <p:cNvSpPr/>
          <p:nvPr/>
        </p:nvSpPr>
        <p:spPr>
          <a:xfrm>
            <a:off x="7705846" y="7144583"/>
            <a:ext cx="6244709" cy="340162"/>
          </a:xfrm>
          <a:prstGeom prst="rect">
            <a:avLst/>
          </a:prstGeom>
          <a:noFill/>
          <a:ln/>
        </p:spPr>
        <p:txBody>
          <a:bodyPr wrap="none" lIns="0" tIns="0" rIns="0" bIns="0" rtlCol="0" anchor="t"/>
          <a:lstStyle/>
          <a:p>
            <a:pPr marL="0" indent="0" algn="l">
              <a:lnSpc>
                <a:spcPts val="2650"/>
              </a:lnSpc>
              <a:buNone/>
            </a:pPr>
            <a:r>
              <a:rPr lang="en-US" sz="1750" dirty="0">
                <a:solidFill>
                  <a:srgbClr val="384653"/>
                </a:solidFill>
                <a:latin typeface="Host Grotesk Medium" panose="020B0604020202020204" charset="0"/>
                <a:ea typeface="Roboto" pitchFamily="34" charset="-122"/>
                <a:cs typeface="Roboto" pitchFamily="34" charset="-120"/>
              </a:rPr>
              <a:t>Geographical Distribution of Survey Countries</a:t>
            </a:r>
            <a:endParaRPr lang="en-US" sz="1750" dirty="0">
              <a:latin typeface="Host Grotesk Medium" panose="020B0604020202020204" charset="0"/>
            </a:endParaRPr>
          </a:p>
        </p:txBody>
      </p:sp>
      <p:pic>
        <p:nvPicPr>
          <p:cNvPr id="12" name="Picture 11">
            <a:extLst>
              <a:ext uri="{FF2B5EF4-FFF2-40B4-BE49-F238E27FC236}">
                <a16:creationId xmlns:a16="http://schemas.microsoft.com/office/drawing/2014/main" id="{3937041F-FCBD-BFC8-B0F5-812A0FFBDC3B}"/>
              </a:ext>
            </a:extLst>
          </p:cNvPr>
          <p:cNvPicPr>
            <a:picLocks noChangeAspect="1"/>
          </p:cNvPicPr>
          <p:nvPr/>
        </p:nvPicPr>
        <p:blipFill>
          <a:blip r:embed="rId4"/>
          <a:stretch>
            <a:fillRect/>
          </a:stretch>
        </p:blipFill>
        <p:spPr>
          <a:xfrm>
            <a:off x="7705846" y="2587586"/>
            <a:ext cx="5113327" cy="1531982"/>
          </a:xfrm>
          <a:prstGeom prst="rect">
            <a:avLst/>
          </a:prstGeom>
        </p:spPr>
      </p:pic>
      <p:sp>
        <p:nvSpPr>
          <p:cNvPr id="13" name="TextBox 12">
            <a:extLst>
              <a:ext uri="{FF2B5EF4-FFF2-40B4-BE49-F238E27FC236}">
                <a16:creationId xmlns:a16="http://schemas.microsoft.com/office/drawing/2014/main" id="{00E4DA19-3B95-834A-4D29-2E49846AF37C}"/>
              </a:ext>
            </a:extLst>
          </p:cNvPr>
          <p:cNvSpPr txBox="1"/>
          <p:nvPr/>
        </p:nvSpPr>
        <p:spPr>
          <a:xfrm>
            <a:off x="7591903" y="4136564"/>
            <a:ext cx="7437524" cy="646331"/>
          </a:xfrm>
          <a:prstGeom prst="rect">
            <a:avLst/>
          </a:prstGeom>
          <a:noFill/>
        </p:spPr>
        <p:txBody>
          <a:bodyPr wrap="square" rtlCol="0">
            <a:spAutoFit/>
          </a:bodyPr>
          <a:lstStyle/>
          <a:p>
            <a:r>
              <a:rPr lang="en-US" dirty="0">
                <a:latin typeface="Host Grotesk Medium" panose="020B0604020202020204" charset="0"/>
              </a:rPr>
              <a:t>Distribution</a:t>
            </a:r>
            <a:r>
              <a:rPr lang="en-US" dirty="0"/>
              <a:t> of age when people first experienced anxiety or depression</a:t>
            </a:r>
          </a:p>
          <a:p>
            <a:endParaRPr lang="en-IN" dirty="0"/>
          </a:p>
        </p:txBody>
      </p:sp>
      <p:sp>
        <p:nvSpPr>
          <p:cNvPr id="14" name="Rectangle: Rounded Corners 13">
            <a:extLst>
              <a:ext uri="{FF2B5EF4-FFF2-40B4-BE49-F238E27FC236}">
                <a16:creationId xmlns:a16="http://schemas.microsoft.com/office/drawing/2014/main" id="{35F9C5D1-EC1F-DB75-A1BC-D87A462B1251}"/>
              </a:ext>
            </a:extLst>
          </p:cNvPr>
          <p:cNvSpPr/>
          <p:nvPr/>
        </p:nvSpPr>
        <p:spPr>
          <a:xfrm>
            <a:off x="12827132" y="7718156"/>
            <a:ext cx="1679282" cy="371959"/>
          </a:xfrm>
          <a:prstGeom prst="roundRect">
            <a:avLst/>
          </a:prstGeom>
          <a:ln>
            <a:solidFill>
              <a:schemeClr val="bg1">
                <a:lumMod val="85000"/>
              </a:schemeClr>
            </a:solidFill>
          </a:ln>
        </p:spPr>
        <p:style>
          <a:lnRef idx="2">
            <a:schemeClr val="accent1">
              <a:shade val="15000"/>
            </a:schemeClr>
          </a:lnRef>
          <a:fillRef idx="1001">
            <a:schemeClr val="lt2"/>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74502" y="608528"/>
            <a:ext cx="5532358" cy="691515"/>
          </a:xfrm>
          <a:prstGeom prst="rect">
            <a:avLst/>
          </a:prstGeom>
          <a:noFill/>
          <a:ln/>
        </p:spPr>
        <p:txBody>
          <a:bodyPr wrap="none" lIns="0" tIns="0" rIns="0" bIns="0" rtlCol="0" anchor="t"/>
          <a:lstStyle/>
          <a:p>
            <a:pPr marL="0" indent="0" algn="l">
              <a:lnSpc>
                <a:spcPts val="5400"/>
              </a:lnSpc>
              <a:buNone/>
            </a:pPr>
            <a:r>
              <a:rPr lang="en-US" sz="4350" dirty="0">
                <a:solidFill>
                  <a:srgbClr val="2E3C4E"/>
                </a:solidFill>
                <a:latin typeface="Host Grotesk Medium" pitchFamily="34" charset="0"/>
                <a:ea typeface="Host Grotesk Medium" pitchFamily="34" charset="-122"/>
                <a:cs typeface="Host Grotesk Medium" pitchFamily="34" charset="-120"/>
              </a:rPr>
              <a:t>Visualizations </a:t>
            </a:r>
            <a:endParaRPr lang="en-US" sz="4350" dirty="0"/>
          </a:p>
        </p:txBody>
      </p:sp>
      <p:pic>
        <p:nvPicPr>
          <p:cNvPr id="3" name="Image 0" descr="preencoded.png"/>
          <p:cNvPicPr>
            <a:picLocks noChangeAspect="1"/>
          </p:cNvPicPr>
          <p:nvPr/>
        </p:nvPicPr>
        <p:blipFill>
          <a:blip r:embed="rId3"/>
          <a:stretch>
            <a:fillRect/>
          </a:stretch>
        </p:blipFill>
        <p:spPr>
          <a:xfrm>
            <a:off x="774502" y="1880711"/>
            <a:ext cx="2865477" cy="2205276"/>
          </a:xfrm>
          <a:prstGeom prst="rect">
            <a:avLst/>
          </a:prstGeom>
        </p:spPr>
      </p:pic>
      <p:sp>
        <p:nvSpPr>
          <p:cNvPr id="4" name="Text 1"/>
          <p:cNvSpPr/>
          <p:nvPr/>
        </p:nvSpPr>
        <p:spPr>
          <a:xfrm>
            <a:off x="774502" y="4334828"/>
            <a:ext cx="2865477" cy="995839"/>
          </a:xfrm>
          <a:prstGeom prst="rect">
            <a:avLst/>
          </a:prstGeom>
          <a:noFill/>
          <a:ln/>
        </p:spPr>
        <p:txBody>
          <a:bodyPr wrap="square" lIns="0" tIns="0" rIns="0" bIns="0" rtlCol="0" anchor="t"/>
          <a:lstStyle/>
          <a:p>
            <a:pPr marL="0" indent="0" algn="l">
              <a:lnSpc>
                <a:spcPts val="2600"/>
              </a:lnSpc>
              <a:buNone/>
            </a:pPr>
            <a:r>
              <a:rPr lang="en-US" sz="1700" dirty="0">
                <a:solidFill>
                  <a:srgbClr val="384653"/>
                </a:solidFill>
                <a:latin typeface="Roboto" pitchFamily="34" charset="0"/>
                <a:ea typeface="Roboto" pitchFamily="34" charset="-122"/>
                <a:cs typeface="Roboto" pitchFamily="34" charset="-120"/>
              </a:rPr>
              <a:t>China and India report the highest number of mental health cases</a:t>
            </a:r>
            <a:endParaRPr lang="en-US" sz="1700" dirty="0"/>
          </a:p>
        </p:txBody>
      </p:sp>
      <p:pic>
        <p:nvPicPr>
          <p:cNvPr id="5" name="Image 1" descr="preencoded.png"/>
          <p:cNvPicPr>
            <a:picLocks noChangeAspect="1"/>
          </p:cNvPicPr>
          <p:nvPr/>
        </p:nvPicPr>
        <p:blipFill>
          <a:blip r:embed="rId4"/>
          <a:stretch>
            <a:fillRect/>
          </a:stretch>
        </p:blipFill>
        <p:spPr>
          <a:xfrm>
            <a:off x="4187428" y="1880711"/>
            <a:ext cx="2335887" cy="1410653"/>
          </a:xfrm>
          <a:prstGeom prst="rect">
            <a:avLst/>
          </a:prstGeom>
        </p:spPr>
      </p:pic>
      <p:sp>
        <p:nvSpPr>
          <p:cNvPr id="6" name="Text 2"/>
          <p:cNvSpPr/>
          <p:nvPr/>
        </p:nvSpPr>
        <p:spPr>
          <a:xfrm>
            <a:off x="4187428" y="3540204"/>
            <a:ext cx="2865477" cy="995839"/>
          </a:xfrm>
          <a:prstGeom prst="rect">
            <a:avLst/>
          </a:prstGeom>
          <a:noFill/>
          <a:ln/>
        </p:spPr>
        <p:txBody>
          <a:bodyPr wrap="square" lIns="0" tIns="0" rIns="0" bIns="0" rtlCol="0" anchor="t"/>
          <a:lstStyle/>
          <a:p>
            <a:pPr marL="0" indent="0" algn="l">
              <a:lnSpc>
                <a:spcPts val="2600"/>
              </a:lnSpc>
              <a:buNone/>
            </a:pPr>
            <a:r>
              <a:rPr lang="en-US" sz="1700" dirty="0">
                <a:solidFill>
                  <a:srgbClr val="384653"/>
                </a:solidFill>
                <a:latin typeface="Roboto" pitchFamily="34" charset="0"/>
                <a:ea typeface="Roboto" pitchFamily="34" charset="-122"/>
                <a:cs typeface="Roboto" pitchFamily="34" charset="-120"/>
              </a:rPr>
              <a:t>The peak is around 18–20 years old, with over 600 people in that bin.</a:t>
            </a:r>
            <a:endParaRPr lang="en-US" sz="1700" dirty="0"/>
          </a:p>
        </p:txBody>
      </p:sp>
      <p:pic>
        <p:nvPicPr>
          <p:cNvPr id="7" name="Image 2" descr="preencoded.png"/>
          <p:cNvPicPr>
            <a:picLocks noChangeAspect="1"/>
          </p:cNvPicPr>
          <p:nvPr/>
        </p:nvPicPr>
        <p:blipFill>
          <a:blip r:embed="rId5"/>
          <a:stretch>
            <a:fillRect/>
          </a:stretch>
        </p:blipFill>
        <p:spPr>
          <a:xfrm>
            <a:off x="7600355" y="1880711"/>
            <a:ext cx="2865477" cy="1989058"/>
          </a:xfrm>
          <a:prstGeom prst="rect">
            <a:avLst/>
          </a:prstGeom>
        </p:spPr>
      </p:pic>
      <p:sp>
        <p:nvSpPr>
          <p:cNvPr id="8" name="Text 3"/>
          <p:cNvSpPr/>
          <p:nvPr/>
        </p:nvSpPr>
        <p:spPr>
          <a:xfrm>
            <a:off x="7600355" y="4118610"/>
            <a:ext cx="2865477" cy="1659731"/>
          </a:xfrm>
          <a:prstGeom prst="rect">
            <a:avLst/>
          </a:prstGeom>
          <a:noFill/>
          <a:ln/>
        </p:spPr>
        <p:txBody>
          <a:bodyPr wrap="square" lIns="0" tIns="0" rIns="0" bIns="0" rtlCol="0" anchor="t"/>
          <a:lstStyle/>
          <a:p>
            <a:pPr marL="0" indent="0" algn="l">
              <a:lnSpc>
                <a:spcPts val="2600"/>
              </a:lnSpc>
              <a:buNone/>
            </a:pPr>
            <a:r>
              <a:rPr lang="en-US" sz="1700" dirty="0">
                <a:solidFill>
                  <a:srgbClr val="384653"/>
                </a:solidFill>
                <a:latin typeface="Roboto" pitchFamily="34" charset="0"/>
                <a:ea typeface="Roboto" pitchFamily="34" charset="-122"/>
                <a:cs typeface="Roboto" pitchFamily="34" charset="-120"/>
              </a:rPr>
              <a:t>Higher trust in science (Trust Levels 1 and 2) is associated with the highest percentages of people reporting good mental health—</a:t>
            </a:r>
            <a:endParaRPr lang="en-US" sz="1700" dirty="0"/>
          </a:p>
        </p:txBody>
      </p:sp>
      <p:pic>
        <p:nvPicPr>
          <p:cNvPr id="9" name="Image 3" descr="preencoded.png"/>
          <p:cNvPicPr>
            <a:picLocks noChangeAspect="1"/>
          </p:cNvPicPr>
          <p:nvPr/>
        </p:nvPicPr>
        <p:blipFill>
          <a:blip r:embed="rId6"/>
          <a:stretch>
            <a:fillRect/>
          </a:stretch>
        </p:blipFill>
        <p:spPr>
          <a:xfrm>
            <a:off x="11013281" y="1880711"/>
            <a:ext cx="2865477" cy="2123718"/>
          </a:xfrm>
          <a:prstGeom prst="rect">
            <a:avLst/>
          </a:prstGeom>
        </p:spPr>
      </p:pic>
      <p:sp>
        <p:nvSpPr>
          <p:cNvPr id="10" name="Text 4"/>
          <p:cNvSpPr/>
          <p:nvPr/>
        </p:nvSpPr>
        <p:spPr>
          <a:xfrm>
            <a:off x="11013281" y="4253270"/>
            <a:ext cx="2865477" cy="2655570"/>
          </a:xfrm>
          <a:prstGeom prst="rect">
            <a:avLst/>
          </a:prstGeom>
          <a:noFill/>
          <a:ln/>
        </p:spPr>
        <p:txBody>
          <a:bodyPr wrap="square" lIns="0" tIns="0" rIns="0" bIns="0" rtlCol="0" anchor="t"/>
          <a:lstStyle/>
          <a:p>
            <a:pPr marL="0" indent="0" algn="l">
              <a:lnSpc>
                <a:spcPts val="2600"/>
              </a:lnSpc>
              <a:buNone/>
            </a:pPr>
            <a:r>
              <a:rPr lang="en-US" sz="1700" dirty="0">
                <a:solidFill>
                  <a:srgbClr val="384653"/>
                </a:solidFill>
                <a:latin typeface="Roboto" pitchFamily="34" charset="0"/>
                <a:ea typeface="Roboto" pitchFamily="34" charset="-122"/>
                <a:cs typeface="Roboto" pitchFamily="34" charset="-120"/>
              </a:rPr>
              <a:t>The confusion matrix shows the model accurately predicts Class 0 and Class 2, but struggles slightly with Class 1, often confusing it with Class 2. Overall, the model demonstrates strong classification performance.</a:t>
            </a:r>
            <a:endParaRPr lang="en-US" sz="1700" dirty="0"/>
          </a:p>
        </p:txBody>
      </p:sp>
      <p:sp>
        <p:nvSpPr>
          <p:cNvPr id="11" name="Text 5"/>
          <p:cNvSpPr/>
          <p:nvPr/>
        </p:nvSpPr>
        <p:spPr>
          <a:xfrm>
            <a:off x="774502" y="7356753"/>
            <a:ext cx="13081397" cy="331946"/>
          </a:xfrm>
          <a:prstGeom prst="rect">
            <a:avLst/>
          </a:prstGeom>
          <a:noFill/>
          <a:ln/>
        </p:spPr>
        <p:txBody>
          <a:bodyPr wrap="none" lIns="0" tIns="0" rIns="0" bIns="0" rtlCol="0" anchor="t"/>
          <a:lstStyle/>
          <a:p>
            <a:pPr marL="0" indent="0" algn="l">
              <a:lnSpc>
                <a:spcPts val="2600"/>
              </a:lnSpc>
              <a:buNone/>
            </a:pPr>
            <a:endParaRPr lang="en-US" sz="1700" dirty="0"/>
          </a:p>
        </p:txBody>
      </p:sp>
      <p:sp>
        <p:nvSpPr>
          <p:cNvPr id="12" name="Rectangle: Rounded Corners 11">
            <a:extLst>
              <a:ext uri="{FF2B5EF4-FFF2-40B4-BE49-F238E27FC236}">
                <a16:creationId xmlns:a16="http://schemas.microsoft.com/office/drawing/2014/main" id="{6D92591C-D561-E69C-E422-0C6365EA9EB2}"/>
              </a:ext>
            </a:extLst>
          </p:cNvPr>
          <p:cNvSpPr/>
          <p:nvPr/>
        </p:nvSpPr>
        <p:spPr>
          <a:xfrm>
            <a:off x="12827132" y="7718156"/>
            <a:ext cx="1679282" cy="371959"/>
          </a:xfrm>
          <a:prstGeom prst="roundRect">
            <a:avLst/>
          </a:prstGeom>
          <a:ln>
            <a:solidFill>
              <a:schemeClr val="bg1">
                <a:lumMod val="85000"/>
              </a:schemeClr>
            </a:solidFill>
          </a:ln>
        </p:spPr>
        <p:style>
          <a:lnRef idx="2">
            <a:schemeClr val="accent1">
              <a:shade val="15000"/>
            </a:schemeClr>
          </a:lnRef>
          <a:fillRef idx="1001">
            <a:schemeClr val="lt2"/>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27E049E-AC3D-9D78-AB3B-281FA913F28C}"/>
              </a:ext>
            </a:extLst>
          </p:cNvPr>
          <p:cNvSpPr txBox="1"/>
          <p:nvPr/>
        </p:nvSpPr>
        <p:spPr>
          <a:xfrm>
            <a:off x="234315" y="352425"/>
            <a:ext cx="3752950" cy="646331"/>
          </a:xfrm>
          <a:prstGeom prst="rect">
            <a:avLst/>
          </a:prstGeom>
          <a:noFill/>
        </p:spPr>
        <p:txBody>
          <a:bodyPr wrap="none" rtlCol="0">
            <a:spAutoFit/>
          </a:bodyPr>
          <a:lstStyle/>
          <a:p>
            <a:r>
              <a:rPr lang="en-IN" sz="3600" dirty="0">
                <a:latin typeface="Host Grotesk Medium" panose="020B0604020202020204" charset="0"/>
              </a:rPr>
              <a:t>Outlier Detection</a:t>
            </a:r>
          </a:p>
        </p:txBody>
      </p:sp>
      <p:pic>
        <p:nvPicPr>
          <p:cNvPr id="2051" name="Picture 1">
            <a:extLst>
              <a:ext uri="{FF2B5EF4-FFF2-40B4-BE49-F238E27FC236}">
                <a16:creationId xmlns:a16="http://schemas.microsoft.com/office/drawing/2014/main" id="{1FE7C61C-2592-5561-F45F-E48BB3FD52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99617" y="1022262"/>
            <a:ext cx="5407298" cy="29149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2" name="Picture 1">
            <a:extLst>
              <a:ext uri="{FF2B5EF4-FFF2-40B4-BE49-F238E27FC236}">
                <a16:creationId xmlns:a16="http://schemas.microsoft.com/office/drawing/2014/main" id="{B6B23C2C-12CB-AF28-ABD7-531900532A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36747" y="5284769"/>
            <a:ext cx="4590919" cy="2592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50BD9F5A-845C-F950-F7CA-866805B8BB3B}"/>
              </a:ext>
            </a:extLst>
          </p:cNvPr>
          <p:cNvSpPr txBox="1"/>
          <p:nvPr/>
        </p:nvSpPr>
        <p:spPr>
          <a:xfrm>
            <a:off x="807522" y="4884659"/>
            <a:ext cx="2941320" cy="400110"/>
          </a:xfrm>
          <a:prstGeom prst="rect">
            <a:avLst/>
          </a:prstGeom>
          <a:noFill/>
        </p:spPr>
        <p:txBody>
          <a:bodyPr wrap="square" rtlCol="0">
            <a:spAutoFit/>
          </a:bodyPr>
          <a:lstStyle/>
          <a:p>
            <a:r>
              <a:rPr lang="en-IN" sz="2000" dirty="0">
                <a:latin typeface="Host Grotesk Medium" panose="020B0604020202020204" charset="0"/>
              </a:rPr>
              <a:t>Detected Outliers</a:t>
            </a:r>
          </a:p>
        </p:txBody>
      </p:sp>
      <p:sp>
        <p:nvSpPr>
          <p:cNvPr id="7" name="Rectangle: Rounded Corners 6">
            <a:extLst>
              <a:ext uri="{FF2B5EF4-FFF2-40B4-BE49-F238E27FC236}">
                <a16:creationId xmlns:a16="http://schemas.microsoft.com/office/drawing/2014/main" id="{141B7D47-EADD-F70D-11EE-A47B56BE5A6A}"/>
              </a:ext>
            </a:extLst>
          </p:cNvPr>
          <p:cNvSpPr/>
          <p:nvPr/>
        </p:nvSpPr>
        <p:spPr>
          <a:xfrm>
            <a:off x="807522" y="1151906"/>
            <a:ext cx="6620144" cy="1637789"/>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r>
              <a:rPr lang="en-US" sz="2000" b="1" dirty="0">
                <a:latin typeface="Host Grotesk Medium" panose="020B0604020202020204" charset="0"/>
              </a:rPr>
              <a:t>Purpose</a:t>
            </a:r>
          </a:p>
          <a:p>
            <a:r>
              <a:rPr lang="en-US" dirty="0">
                <a:latin typeface="Roboto" panose="02000000000000000000" pitchFamily="2" charset="0"/>
                <a:ea typeface="Roboto" panose="02000000000000000000" pitchFamily="2" charset="0"/>
                <a:cs typeface="Roboto" panose="02000000000000000000" pitchFamily="2" charset="0"/>
              </a:rPr>
              <a:t>Outliers can distort statistical summaries and affect model performance.</a:t>
            </a:r>
            <a:br>
              <a:rPr lang="en-US" dirty="0">
                <a:latin typeface="Roboto" panose="02000000000000000000" pitchFamily="2" charset="0"/>
                <a:ea typeface="Roboto" panose="02000000000000000000" pitchFamily="2" charset="0"/>
                <a:cs typeface="Roboto" panose="02000000000000000000" pitchFamily="2" charset="0"/>
              </a:rPr>
            </a:br>
            <a:r>
              <a:rPr lang="en-US" dirty="0">
                <a:latin typeface="Roboto" panose="02000000000000000000" pitchFamily="2" charset="0"/>
                <a:ea typeface="Roboto" panose="02000000000000000000" pitchFamily="2" charset="0"/>
                <a:cs typeface="Roboto" panose="02000000000000000000" pitchFamily="2" charset="0"/>
              </a:rPr>
              <a:t>Detecting and removing them ensures cleaner, more reliable data analysis</a:t>
            </a:r>
            <a:r>
              <a:rPr lang="en-US" dirty="0">
                <a:latin typeface="Host Grotesk Medium" panose="020B0604020202020204" charset="0"/>
              </a:rPr>
              <a:t>.</a:t>
            </a:r>
          </a:p>
        </p:txBody>
      </p:sp>
      <p:sp>
        <p:nvSpPr>
          <p:cNvPr id="9" name="Rectangle: Rounded Corners 8">
            <a:extLst>
              <a:ext uri="{FF2B5EF4-FFF2-40B4-BE49-F238E27FC236}">
                <a16:creationId xmlns:a16="http://schemas.microsoft.com/office/drawing/2014/main" id="{A5C39289-C40E-D6C5-B4C2-289E49B1AA54}"/>
              </a:ext>
            </a:extLst>
          </p:cNvPr>
          <p:cNvSpPr/>
          <p:nvPr/>
        </p:nvSpPr>
        <p:spPr>
          <a:xfrm>
            <a:off x="807522" y="3118310"/>
            <a:ext cx="6620143" cy="1637789"/>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r>
              <a:rPr lang="en-IN" sz="2000" b="1" dirty="0">
                <a:latin typeface="Host Grotesk Medium" panose="020B0604020202020204" charset="0"/>
              </a:rPr>
              <a:t>Method Used</a:t>
            </a:r>
          </a:p>
          <a:p>
            <a:r>
              <a:rPr lang="en-IN" b="1" dirty="0">
                <a:latin typeface="Roboto" panose="02000000000000000000" pitchFamily="2" charset="0"/>
                <a:ea typeface="Roboto" panose="02000000000000000000" pitchFamily="2" charset="0"/>
                <a:cs typeface="Roboto" panose="02000000000000000000" pitchFamily="2" charset="0"/>
              </a:rPr>
              <a:t>Technique:</a:t>
            </a:r>
            <a:r>
              <a:rPr lang="en-IN" dirty="0">
                <a:latin typeface="Roboto" panose="02000000000000000000" pitchFamily="2" charset="0"/>
                <a:ea typeface="Roboto" panose="02000000000000000000" pitchFamily="2" charset="0"/>
                <a:cs typeface="Roboto" panose="02000000000000000000" pitchFamily="2" charset="0"/>
              </a:rPr>
              <a:t> Interquartile Range (IQR) Method</a:t>
            </a:r>
          </a:p>
          <a:p>
            <a:r>
              <a:rPr lang="en-IN" b="1" dirty="0">
                <a:latin typeface="Roboto" panose="02000000000000000000" pitchFamily="2" charset="0"/>
                <a:ea typeface="Roboto" panose="02000000000000000000" pitchFamily="2" charset="0"/>
                <a:cs typeface="Roboto" panose="02000000000000000000" pitchFamily="2" charset="0"/>
              </a:rPr>
              <a:t>Rule:</a:t>
            </a:r>
            <a:r>
              <a:rPr lang="en-IN" dirty="0">
                <a:latin typeface="Roboto" panose="02000000000000000000" pitchFamily="2" charset="0"/>
                <a:ea typeface="Roboto" panose="02000000000000000000" pitchFamily="2" charset="0"/>
                <a:cs typeface="Roboto" panose="02000000000000000000" pitchFamily="2" charset="0"/>
              </a:rPr>
              <a:t> Values beyond </a:t>
            </a:r>
            <a:r>
              <a:rPr lang="en-IN" b="1" dirty="0">
                <a:latin typeface="Roboto" panose="02000000000000000000" pitchFamily="2" charset="0"/>
                <a:ea typeface="Roboto" panose="02000000000000000000" pitchFamily="2" charset="0"/>
                <a:cs typeface="Roboto" panose="02000000000000000000" pitchFamily="2" charset="0"/>
              </a:rPr>
              <a:t>1.5 × IQR</a:t>
            </a:r>
            <a:r>
              <a:rPr lang="en-IN" dirty="0">
                <a:latin typeface="Roboto" panose="02000000000000000000" pitchFamily="2" charset="0"/>
                <a:ea typeface="Roboto" panose="02000000000000000000" pitchFamily="2" charset="0"/>
                <a:cs typeface="Roboto" panose="02000000000000000000" pitchFamily="2" charset="0"/>
              </a:rPr>
              <a:t> from Q1 or Q3 are flagged as outliers.</a:t>
            </a:r>
          </a:p>
          <a:p>
            <a:r>
              <a:rPr lang="en-IN" b="1" dirty="0">
                <a:latin typeface="Roboto" panose="02000000000000000000" pitchFamily="2" charset="0"/>
                <a:ea typeface="Roboto" panose="02000000000000000000" pitchFamily="2" charset="0"/>
                <a:cs typeface="Roboto" panose="02000000000000000000" pitchFamily="2" charset="0"/>
              </a:rPr>
              <a:t>Implementation:</a:t>
            </a:r>
            <a:r>
              <a:rPr lang="en-IN" dirty="0">
                <a:latin typeface="Roboto" panose="02000000000000000000" pitchFamily="2" charset="0"/>
                <a:ea typeface="Roboto" panose="02000000000000000000" pitchFamily="2" charset="0"/>
                <a:cs typeface="Roboto" panose="02000000000000000000" pitchFamily="2" charset="0"/>
              </a:rPr>
              <a:t> Python (Pandas, Matplotlib)</a:t>
            </a:r>
          </a:p>
        </p:txBody>
      </p:sp>
      <p:sp>
        <p:nvSpPr>
          <p:cNvPr id="10" name="TextBox 9">
            <a:extLst>
              <a:ext uri="{FF2B5EF4-FFF2-40B4-BE49-F238E27FC236}">
                <a16:creationId xmlns:a16="http://schemas.microsoft.com/office/drawing/2014/main" id="{66519241-D30D-87F9-4AD1-7ECBF8909DEA}"/>
              </a:ext>
            </a:extLst>
          </p:cNvPr>
          <p:cNvSpPr txBox="1"/>
          <p:nvPr/>
        </p:nvSpPr>
        <p:spPr>
          <a:xfrm>
            <a:off x="8644787" y="348936"/>
            <a:ext cx="2186817" cy="400110"/>
          </a:xfrm>
          <a:prstGeom prst="rect">
            <a:avLst/>
          </a:prstGeom>
          <a:noFill/>
        </p:spPr>
        <p:txBody>
          <a:bodyPr wrap="none" rtlCol="0">
            <a:spAutoFit/>
          </a:bodyPr>
          <a:lstStyle/>
          <a:p>
            <a:r>
              <a:rPr lang="en-IN" sz="2000" dirty="0">
                <a:latin typeface="Host Grotesk Medium" panose="020B0604020202020204" charset="0"/>
                <a:ea typeface="Roboto" panose="02000000000000000000" pitchFamily="2" charset="0"/>
                <a:cs typeface="Roboto" panose="02000000000000000000" pitchFamily="2" charset="0"/>
              </a:rPr>
              <a:t>Outliers Removal</a:t>
            </a:r>
          </a:p>
        </p:txBody>
      </p:sp>
      <p:pic>
        <p:nvPicPr>
          <p:cNvPr id="2054" name="Picture 1">
            <a:extLst>
              <a:ext uri="{FF2B5EF4-FFF2-40B4-BE49-F238E27FC236}">
                <a16:creationId xmlns:a16="http://schemas.microsoft.com/office/drawing/2014/main" id="{89E6845B-E2F7-566F-66F9-D9906121A22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31959" y="4210420"/>
            <a:ext cx="4590919" cy="34735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Rounded Corners 10">
            <a:extLst>
              <a:ext uri="{FF2B5EF4-FFF2-40B4-BE49-F238E27FC236}">
                <a16:creationId xmlns:a16="http://schemas.microsoft.com/office/drawing/2014/main" id="{B1813F4D-0ABE-8BB2-0678-6B7783F0D945}"/>
              </a:ext>
            </a:extLst>
          </p:cNvPr>
          <p:cNvSpPr/>
          <p:nvPr/>
        </p:nvSpPr>
        <p:spPr>
          <a:xfrm>
            <a:off x="12827132" y="7718156"/>
            <a:ext cx="1679282" cy="371959"/>
          </a:xfrm>
          <a:prstGeom prst="roundRect">
            <a:avLst/>
          </a:prstGeom>
          <a:ln>
            <a:solidFill>
              <a:schemeClr val="bg1">
                <a:lumMod val="85000"/>
              </a:schemeClr>
            </a:solidFill>
          </a:ln>
        </p:spPr>
        <p:style>
          <a:lnRef idx="2">
            <a:schemeClr val="accent1">
              <a:shade val="15000"/>
            </a:schemeClr>
          </a:lnRef>
          <a:fillRef idx="1001">
            <a:schemeClr val="lt2"/>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8878747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753666"/>
            <a:ext cx="10383083" cy="708779"/>
          </a:xfrm>
          <a:prstGeom prst="rect">
            <a:avLst/>
          </a:prstGeom>
          <a:noFill/>
          <a:ln/>
        </p:spPr>
        <p:txBody>
          <a:bodyPr wrap="none" lIns="0" tIns="0" rIns="0" bIns="0" rtlCol="0" anchor="t"/>
          <a:lstStyle/>
          <a:p>
            <a:pPr marL="0" indent="0" algn="l">
              <a:lnSpc>
                <a:spcPts val="5550"/>
              </a:lnSpc>
              <a:buNone/>
            </a:pPr>
            <a:r>
              <a:rPr lang="en-US" sz="4450" dirty="0">
                <a:solidFill>
                  <a:srgbClr val="2E3C4E"/>
                </a:solidFill>
                <a:latin typeface="Host Grotesk Medium" pitchFamily="34" charset="0"/>
                <a:ea typeface="Host Grotesk Medium" pitchFamily="34" charset="-122"/>
                <a:cs typeface="Host Grotesk Medium" pitchFamily="34" charset="-120"/>
              </a:rPr>
              <a:t>Predictive Modeling: Logistic Regression</a:t>
            </a:r>
            <a:endParaRPr lang="en-US" sz="4450" dirty="0"/>
          </a:p>
        </p:txBody>
      </p:sp>
      <p:sp>
        <p:nvSpPr>
          <p:cNvPr id="3" name="Text 1"/>
          <p:cNvSpPr/>
          <p:nvPr/>
        </p:nvSpPr>
        <p:spPr>
          <a:xfrm>
            <a:off x="793790" y="1916073"/>
            <a:ext cx="13042821" cy="340162"/>
          </a:xfrm>
          <a:prstGeom prst="rect">
            <a:avLst/>
          </a:prstGeom>
          <a:noFill/>
          <a:ln/>
        </p:spPr>
        <p:txBody>
          <a:bodyPr wrap="none" lIns="0" tIns="0" rIns="0" bIns="0" rtlCol="0" anchor="t"/>
          <a:lstStyle/>
          <a:p>
            <a:pPr marL="0" indent="0" algn="l">
              <a:lnSpc>
                <a:spcPts val="2650"/>
              </a:lnSpc>
              <a:buNone/>
            </a:pPr>
            <a:r>
              <a:rPr lang="en-US" sz="1750" dirty="0">
                <a:solidFill>
                  <a:srgbClr val="384653"/>
                </a:solidFill>
                <a:latin typeface="Roboto" pitchFamily="34" charset="0"/>
                <a:ea typeface="Roboto" pitchFamily="34" charset="-122"/>
                <a:cs typeface="Roboto" pitchFamily="34" charset="-120"/>
              </a:rPr>
              <a:t>Logistic Regression was used to predict mental health outcomes based on various factors.</a:t>
            </a:r>
            <a:endParaRPr lang="en-US" sz="1750" dirty="0"/>
          </a:p>
        </p:txBody>
      </p:sp>
      <p:sp>
        <p:nvSpPr>
          <p:cNvPr id="4" name="Text 2"/>
          <p:cNvSpPr/>
          <p:nvPr/>
        </p:nvSpPr>
        <p:spPr>
          <a:xfrm>
            <a:off x="793790" y="2738199"/>
            <a:ext cx="3318272" cy="354330"/>
          </a:xfrm>
          <a:prstGeom prst="rect">
            <a:avLst/>
          </a:prstGeom>
          <a:noFill/>
          <a:ln/>
        </p:spPr>
        <p:txBody>
          <a:bodyPr wrap="none" lIns="0" tIns="0" rIns="0" bIns="0" rtlCol="0" anchor="t"/>
          <a:lstStyle/>
          <a:p>
            <a:pPr marL="0" indent="0" algn="l">
              <a:lnSpc>
                <a:spcPts val="2750"/>
              </a:lnSpc>
              <a:buNone/>
            </a:pPr>
            <a:r>
              <a:rPr lang="en-US" sz="2200" dirty="0">
                <a:solidFill>
                  <a:srgbClr val="2E3C4E"/>
                </a:solidFill>
                <a:latin typeface="Host Grotesk Medium" pitchFamily="34" charset="0"/>
                <a:ea typeface="Host Grotesk Medium" pitchFamily="34" charset="-122"/>
                <a:cs typeface="Host Grotesk Medium" pitchFamily="34" charset="-120"/>
              </a:rPr>
              <a:t>Why Logistic Regression?</a:t>
            </a:r>
            <a:endParaRPr lang="en-US" sz="2200" dirty="0"/>
          </a:p>
        </p:txBody>
      </p:sp>
      <p:sp>
        <p:nvSpPr>
          <p:cNvPr id="5" name="Text 3"/>
          <p:cNvSpPr/>
          <p:nvPr/>
        </p:nvSpPr>
        <p:spPr>
          <a:xfrm>
            <a:off x="793790" y="3319343"/>
            <a:ext cx="6244709" cy="680323"/>
          </a:xfrm>
          <a:prstGeom prst="rect">
            <a:avLst/>
          </a:prstGeom>
          <a:noFill/>
          <a:ln/>
        </p:spPr>
        <p:txBody>
          <a:bodyPr wrap="square" lIns="0" tIns="0" rIns="0" bIns="0" rtlCol="0" anchor="t"/>
          <a:lstStyle/>
          <a:p>
            <a:pPr marL="342900" indent="-342900" algn="l">
              <a:lnSpc>
                <a:spcPts val="2650"/>
              </a:lnSpc>
              <a:buSzPct val="100000"/>
              <a:buChar char="•"/>
            </a:pPr>
            <a:r>
              <a:rPr lang="en-US" sz="1750" dirty="0">
                <a:solidFill>
                  <a:srgbClr val="384653"/>
                </a:solidFill>
                <a:latin typeface="Roboto" pitchFamily="34" charset="0"/>
                <a:ea typeface="Roboto" pitchFamily="34" charset="-122"/>
                <a:cs typeface="Roboto" pitchFamily="34" charset="-120"/>
              </a:rPr>
              <a:t>Ideal for predicting binary outcomes (e.g., presence/absence of mental health issues).</a:t>
            </a:r>
            <a:endParaRPr lang="en-US" sz="1750" dirty="0"/>
          </a:p>
        </p:txBody>
      </p:sp>
      <p:sp>
        <p:nvSpPr>
          <p:cNvPr id="6" name="Text 4"/>
          <p:cNvSpPr/>
          <p:nvPr/>
        </p:nvSpPr>
        <p:spPr>
          <a:xfrm>
            <a:off x="793790" y="4078962"/>
            <a:ext cx="6244709" cy="680323"/>
          </a:xfrm>
          <a:prstGeom prst="rect">
            <a:avLst/>
          </a:prstGeom>
          <a:noFill/>
          <a:ln/>
        </p:spPr>
        <p:txBody>
          <a:bodyPr wrap="square" lIns="0" tIns="0" rIns="0" bIns="0" rtlCol="0" anchor="t"/>
          <a:lstStyle/>
          <a:p>
            <a:pPr marL="342900" indent="-342900" algn="l">
              <a:lnSpc>
                <a:spcPts val="2650"/>
              </a:lnSpc>
              <a:buSzPct val="100000"/>
              <a:buChar char="•"/>
            </a:pPr>
            <a:r>
              <a:rPr lang="en-US" sz="1750" dirty="0">
                <a:solidFill>
                  <a:srgbClr val="384653"/>
                </a:solidFill>
                <a:latin typeface="Roboto" pitchFamily="34" charset="0"/>
                <a:ea typeface="Roboto" pitchFamily="34" charset="-122"/>
                <a:cs typeface="Roboto" pitchFamily="34" charset="-120"/>
              </a:rPr>
              <a:t>Analyzes variables like stress levels, sleep hours, and therapy sessions.</a:t>
            </a:r>
            <a:endParaRPr lang="en-US" sz="1750" dirty="0"/>
          </a:p>
        </p:txBody>
      </p:sp>
      <p:sp>
        <p:nvSpPr>
          <p:cNvPr id="7" name="Text 5"/>
          <p:cNvSpPr/>
          <p:nvPr/>
        </p:nvSpPr>
        <p:spPr>
          <a:xfrm>
            <a:off x="793790" y="4838581"/>
            <a:ext cx="6244709" cy="680323"/>
          </a:xfrm>
          <a:prstGeom prst="rect">
            <a:avLst/>
          </a:prstGeom>
          <a:noFill/>
          <a:ln/>
        </p:spPr>
        <p:txBody>
          <a:bodyPr wrap="square" lIns="0" tIns="0" rIns="0" bIns="0" rtlCol="0" anchor="t"/>
          <a:lstStyle/>
          <a:p>
            <a:pPr marL="342900" indent="-342900" algn="l">
              <a:lnSpc>
                <a:spcPts val="2650"/>
              </a:lnSpc>
              <a:buSzPct val="100000"/>
              <a:buChar char="•"/>
            </a:pPr>
            <a:r>
              <a:rPr lang="en-US" sz="1750" dirty="0">
                <a:solidFill>
                  <a:srgbClr val="384653"/>
                </a:solidFill>
                <a:latin typeface="Roboto" pitchFamily="34" charset="0"/>
                <a:ea typeface="Roboto" pitchFamily="34" charset="-122"/>
                <a:cs typeface="Roboto" pitchFamily="34" charset="-120"/>
              </a:rPr>
              <a:t>Classifies individuals based on symptoms and risk factors.</a:t>
            </a:r>
            <a:endParaRPr lang="en-US" sz="1750" dirty="0"/>
          </a:p>
        </p:txBody>
      </p:sp>
      <p:pic>
        <p:nvPicPr>
          <p:cNvPr id="8" name="Image 0" descr="preencoded.png"/>
          <p:cNvPicPr>
            <a:picLocks noChangeAspect="1"/>
          </p:cNvPicPr>
          <p:nvPr/>
        </p:nvPicPr>
        <p:blipFill>
          <a:blip r:embed="rId3"/>
          <a:stretch>
            <a:fillRect/>
          </a:stretch>
        </p:blipFill>
        <p:spPr>
          <a:xfrm>
            <a:off x="7808877" y="2464176"/>
            <a:ext cx="6244709" cy="3909893"/>
          </a:xfrm>
          <a:prstGeom prst="rect">
            <a:avLst/>
          </a:prstGeom>
        </p:spPr>
      </p:pic>
      <p:sp>
        <p:nvSpPr>
          <p:cNvPr id="9" name="Text 6"/>
          <p:cNvSpPr/>
          <p:nvPr/>
        </p:nvSpPr>
        <p:spPr>
          <a:xfrm>
            <a:off x="7599521" y="6931581"/>
            <a:ext cx="6244709" cy="340162"/>
          </a:xfrm>
          <a:prstGeom prst="rect">
            <a:avLst/>
          </a:prstGeom>
          <a:noFill/>
          <a:ln/>
        </p:spPr>
        <p:txBody>
          <a:bodyPr wrap="none" lIns="0" tIns="0" rIns="0" bIns="0" rtlCol="0" anchor="t"/>
          <a:lstStyle/>
          <a:p>
            <a:pPr marL="0" indent="0" algn="l">
              <a:lnSpc>
                <a:spcPts val="2650"/>
              </a:lnSpc>
              <a:buNone/>
            </a:pPr>
            <a:r>
              <a:rPr lang="en-US" sz="1750" dirty="0">
                <a:solidFill>
                  <a:srgbClr val="384653"/>
                </a:solidFill>
                <a:latin typeface="Roboto" pitchFamily="34" charset="0"/>
                <a:ea typeface="Roboto" pitchFamily="34" charset="-122"/>
                <a:cs typeface="Roboto" pitchFamily="34" charset="-120"/>
              </a:rPr>
              <a:t>Model Accuracy: 0.9365</a:t>
            </a:r>
            <a:endParaRPr lang="en-US" sz="1750" dirty="0"/>
          </a:p>
        </p:txBody>
      </p:sp>
      <p:pic>
        <p:nvPicPr>
          <p:cNvPr id="3074" name="Picture 3">
            <a:extLst>
              <a:ext uri="{FF2B5EF4-FFF2-40B4-BE49-F238E27FC236}">
                <a16:creationId xmlns:a16="http://schemas.microsoft.com/office/drawing/2014/main" id="{8D56C890-D0A6-DB71-643E-13D6FB5055B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9261" y="6005275"/>
            <a:ext cx="4845050" cy="1852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9">
            <a:extLst>
              <a:ext uri="{FF2B5EF4-FFF2-40B4-BE49-F238E27FC236}">
                <a16:creationId xmlns:a16="http://schemas.microsoft.com/office/drawing/2014/main" id="{DFC36549-7049-7160-8B34-0218D78BA3C6}"/>
              </a:ext>
            </a:extLst>
          </p:cNvPr>
          <p:cNvSpPr txBox="1"/>
          <p:nvPr/>
        </p:nvSpPr>
        <p:spPr>
          <a:xfrm>
            <a:off x="793790" y="5367367"/>
            <a:ext cx="2454518" cy="461665"/>
          </a:xfrm>
          <a:prstGeom prst="rect">
            <a:avLst/>
          </a:prstGeom>
          <a:noFill/>
        </p:spPr>
        <p:txBody>
          <a:bodyPr wrap="none" rtlCol="0">
            <a:spAutoFit/>
          </a:bodyPr>
          <a:lstStyle/>
          <a:p>
            <a:r>
              <a:rPr lang="en-IN" sz="2400" dirty="0">
                <a:latin typeface="Host Grotesk Medium" panose="020B0604020202020204" charset="0"/>
              </a:rPr>
              <a:t>Model accuracy</a:t>
            </a:r>
          </a:p>
        </p:txBody>
      </p:sp>
      <p:sp>
        <p:nvSpPr>
          <p:cNvPr id="11" name="Rectangle: Rounded Corners 10">
            <a:extLst>
              <a:ext uri="{FF2B5EF4-FFF2-40B4-BE49-F238E27FC236}">
                <a16:creationId xmlns:a16="http://schemas.microsoft.com/office/drawing/2014/main" id="{CB67B86F-4350-B371-B9A5-1401877B0C10}"/>
              </a:ext>
            </a:extLst>
          </p:cNvPr>
          <p:cNvSpPr/>
          <p:nvPr/>
        </p:nvSpPr>
        <p:spPr>
          <a:xfrm>
            <a:off x="12827132" y="7718156"/>
            <a:ext cx="1679282" cy="371959"/>
          </a:xfrm>
          <a:prstGeom prst="roundRect">
            <a:avLst/>
          </a:prstGeom>
          <a:ln>
            <a:solidFill>
              <a:schemeClr val="bg1">
                <a:lumMod val="85000"/>
              </a:schemeClr>
            </a:solidFill>
          </a:ln>
        </p:spPr>
        <p:style>
          <a:lnRef idx="2">
            <a:schemeClr val="accent1">
              <a:shade val="15000"/>
            </a:schemeClr>
          </a:lnRef>
          <a:fillRef idx="1001">
            <a:schemeClr val="lt2"/>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1054418"/>
            <a:ext cx="5708928" cy="708779"/>
          </a:xfrm>
          <a:prstGeom prst="rect">
            <a:avLst/>
          </a:prstGeom>
          <a:noFill/>
          <a:ln/>
        </p:spPr>
        <p:txBody>
          <a:bodyPr wrap="none" lIns="0" tIns="0" rIns="0" bIns="0" rtlCol="0" anchor="t"/>
          <a:lstStyle/>
          <a:p>
            <a:pPr marL="0" indent="0" algn="l">
              <a:lnSpc>
                <a:spcPts val="5550"/>
              </a:lnSpc>
              <a:buNone/>
            </a:pPr>
            <a:r>
              <a:rPr lang="en-US" sz="4450" dirty="0">
                <a:solidFill>
                  <a:srgbClr val="2E3C4E"/>
                </a:solidFill>
                <a:latin typeface="Host Grotesk Medium" pitchFamily="34" charset="0"/>
                <a:ea typeface="Host Grotesk Medium" pitchFamily="34" charset="-122"/>
                <a:cs typeface="Host Grotesk Medium" pitchFamily="34" charset="-120"/>
              </a:rPr>
              <a:t>Overall Interpretations</a:t>
            </a:r>
            <a:endParaRPr lang="en-US" sz="4450" dirty="0"/>
          </a:p>
        </p:txBody>
      </p:sp>
      <p:sp>
        <p:nvSpPr>
          <p:cNvPr id="3" name="Shape 1"/>
          <p:cNvSpPr/>
          <p:nvPr/>
        </p:nvSpPr>
        <p:spPr>
          <a:xfrm>
            <a:off x="793790" y="2216825"/>
            <a:ext cx="6407944" cy="2365772"/>
          </a:xfrm>
          <a:prstGeom prst="roundRect">
            <a:avLst>
              <a:gd name="adj" fmla="val 4027"/>
            </a:avLst>
          </a:prstGeom>
          <a:solidFill>
            <a:srgbClr val="FAF9F5"/>
          </a:solidFill>
          <a:ln w="30480">
            <a:solidFill>
              <a:srgbClr val="BFD3D8"/>
            </a:solidFill>
            <a:prstDash val="solid"/>
          </a:ln>
        </p:spPr>
      </p:sp>
      <p:sp>
        <p:nvSpPr>
          <p:cNvPr id="4" name="Shape 2"/>
          <p:cNvSpPr/>
          <p:nvPr/>
        </p:nvSpPr>
        <p:spPr>
          <a:xfrm>
            <a:off x="824270" y="2247305"/>
            <a:ext cx="6346984" cy="680442"/>
          </a:xfrm>
          <a:prstGeom prst="roundRect">
            <a:avLst>
              <a:gd name="adj" fmla="val 8626"/>
            </a:avLst>
          </a:prstGeom>
          <a:solidFill>
            <a:srgbClr val="D9EDF2"/>
          </a:solidFill>
          <a:ln/>
        </p:spPr>
      </p:sp>
      <p:sp>
        <p:nvSpPr>
          <p:cNvPr id="5" name="Text 3"/>
          <p:cNvSpPr/>
          <p:nvPr/>
        </p:nvSpPr>
        <p:spPr>
          <a:xfrm>
            <a:off x="3827621" y="2371011"/>
            <a:ext cx="340162" cy="425291"/>
          </a:xfrm>
          <a:prstGeom prst="rect">
            <a:avLst/>
          </a:prstGeom>
          <a:noFill/>
          <a:ln/>
        </p:spPr>
        <p:txBody>
          <a:bodyPr wrap="none" lIns="0" tIns="0" rIns="0" bIns="0" rtlCol="0" anchor="t"/>
          <a:lstStyle/>
          <a:p>
            <a:pPr marL="0" indent="0" algn="l">
              <a:lnSpc>
                <a:spcPts val="2650"/>
              </a:lnSpc>
              <a:buNone/>
            </a:pPr>
            <a:r>
              <a:rPr lang="en-US" sz="2650" dirty="0">
                <a:solidFill>
                  <a:srgbClr val="384653"/>
                </a:solidFill>
                <a:latin typeface="Host Grotesk Medium" pitchFamily="34" charset="0"/>
                <a:ea typeface="Host Grotesk Medium" pitchFamily="34" charset="-122"/>
                <a:cs typeface="Host Grotesk Medium" pitchFamily="34" charset="-120"/>
              </a:rPr>
              <a:t>1</a:t>
            </a:r>
            <a:endParaRPr lang="en-US" sz="2650" dirty="0"/>
          </a:p>
        </p:txBody>
      </p:sp>
      <p:sp>
        <p:nvSpPr>
          <p:cNvPr id="6" name="Text 4"/>
          <p:cNvSpPr/>
          <p:nvPr/>
        </p:nvSpPr>
        <p:spPr>
          <a:xfrm>
            <a:off x="1051084" y="3154561"/>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384653"/>
                </a:solidFill>
                <a:latin typeface="Host Grotesk Medium" pitchFamily="34" charset="0"/>
                <a:ea typeface="Host Grotesk Medium" pitchFamily="34" charset="-122"/>
                <a:cs typeface="Host Grotesk Medium" pitchFamily="34" charset="-120"/>
              </a:rPr>
              <a:t>Gender &amp; Education</a:t>
            </a:r>
            <a:endParaRPr lang="en-US" sz="2200" dirty="0"/>
          </a:p>
        </p:txBody>
      </p:sp>
      <p:sp>
        <p:nvSpPr>
          <p:cNvPr id="7" name="Text 5"/>
          <p:cNvSpPr/>
          <p:nvPr/>
        </p:nvSpPr>
        <p:spPr>
          <a:xfrm>
            <a:off x="1051084" y="3644979"/>
            <a:ext cx="5893356" cy="680323"/>
          </a:xfrm>
          <a:prstGeom prst="rect">
            <a:avLst/>
          </a:prstGeom>
          <a:noFill/>
          <a:ln/>
        </p:spPr>
        <p:txBody>
          <a:bodyPr wrap="square" lIns="0" tIns="0" rIns="0" bIns="0" rtlCol="0" anchor="t"/>
          <a:lstStyle/>
          <a:p>
            <a:pPr marL="0" indent="0" algn="l">
              <a:lnSpc>
                <a:spcPts val="2650"/>
              </a:lnSpc>
              <a:buNone/>
            </a:pPr>
            <a:r>
              <a:rPr lang="en-US" sz="1750" dirty="0">
                <a:solidFill>
                  <a:srgbClr val="384653"/>
                </a:solidFill>
                <a:latin typeface="Roboto" pitchFamily="34" charset="0"/>
                <a:ea typeface="Roboto" pitchFamily="34" charset="-122"/>
                <a:cs typeface="Roboto" pitchFamily="34" charset="-120"/>
              </a:rPr>
              <a:t>Both males and females, and those with moderate to high education, are more likely to report mental health issues.</a:t>
            </a:r>
            <a:endParaRPr lang="en-US" sz="1750" dirty="0"/>
          </a:p>
        </p:txBody>
      </p:sp>
      <p:sp>
        <p:nvSpPr>
          <p:cNvPr id="8" name="Shape 6"/>
          <p:cNvSpPr/>
          <p:nvPr/>
        </p:nvSpPr>
        <p:spPr>
          <a:xfrm>
            <a:off x="7428548" y="2216825"/>
            <a:ext cx="6408063" cy="2365772"/>
          </a:xfrm>
          <a:prstGeom prst="roundRect">
            <a:avLst>
              <a:gd name="adj" fmla="val 4027"/>
            </a:avLst>
          </a:prstGeom>
          <a:solidFill>
            <a:srgbClr val="FAF9F5"/>
          </a:solidFill>
          <a:ln w="30480">
            <a:solidFill>
              <a:srgbClr val="BFD3D8"/>
            </a:solidFill>
            <a:prstDash val="solid"/>
          </a:ln>
        </p:spPr>
      </p:sp>
      <p:sp>
        <p:nvSpPr>
          <p:cNvPr id="9" name="Shape 7"/>
          <p:cNvSpPr/>
          <p:nvPr/>
        </p:nvSpPr>
        <p:spPr>
          <a:xfrm>
            <a:off x="7459027" y="2247305"/>
            <a:ext cx="6347103" cy="680442"/>
          </a:xfrm>
          <a:prstGeom prst="roundRect">
            <a:avLst>
              <a:gd name="adj" fmla="val 8626"/>
            </a:avLst>
          </a:prstGeom>
          <a:solidFill>
            <a:srgbClr val="D9EDF2"/>
          </a:solidFill>
          <a:ln/>
        </p:spPr>
      </p:sp>
      <p:sp>
        <p:nvSpPr>
          <p:cNvPr id="10" name="Text 8"/>
          <p:cNvSpPr/>
          <p:nvPr/>
        </p:nvSpPr>
        <p:spPr>
          <a:xfrm>
            <a:off x="10462498" y="2371011"/>
            <a:ext cx="340162" cy="425291"/>
          </a:xfrm>
          <a:prstGeom prst="rect">
            <a:avLst/>
          </a:prstGeom>
          <a:noFill/>
          <a:ln/>
        </p:spPr>
        <p:txBody>
          <a:bodyPr wrap="none" lIns="0" tIns="0" rIns="0" bIns="0" rtlCol="0" anchor="t"/>
          <a:lstStyle/>
          <a:p>
            <a:pPr marL="0" indent="0" algn="l">
              <a:lnSpc>
                <a:spcPts val="2650"/>
              </a:lnSpc>
              <a:buNone/>
            </a:pPr>
            <a:r>
              <a:rPr lang="en-US" sz="2650" dirty="0">
                <a:solidFill>
                  <a:srgbClr val="384653"/>
                </a:solidFill>
                <a:latin typeface="Host Grotesk Medium" pitchFamily="34" charset="0"/>
                <a:ea typeface="Host Grotesk Medium" pitchFamily="34" charset="-122"/>
                <a:cs typeface="Host Grotesk Medium" pitchFamily="34" charset="-120"/>
              </a:rPr>
              <a:t>2</a:t>
            </a:r>
            <a:endParaRPr lang="en-US" sz="2650" dirty="0"/>
          </a:p>
        </p:txBody>
      </p:sp>
      <p:sp>
        <p:nvSpPr>
          <p:cNvPr id="11" name="Text 9"/>
          <p:cNvSpPr/>
          <p:nvPr/>
        </p:nvSpPr>
        <p:spPr>
          <a:xfrm>
            <a:off x="7685842" y="3154561"/>
            <a:ext cx="3635693" cy="354330"/>
          </a:xfrm>
          <a:prstGeom prst="rect">
            <a:avLst/>
          </a:prstGeom>
          <a:noFill/>
          <a:ln/>
        </p:spPr>
        <p:txBody>
          <a:bodyPr wrap="none" lIns="0" tIns="0" rIns="0" bIns="0" rtlCol="0" anchor="t"/>
          <a:lstStyle/>
          <a:p>
            <a:pPr marL="0" indent="0" algn="l">
              <a:lnSpc>
                <a:spcPts val="2750"/>
              </a:lnSpc>
              <a:buNone/>
            </a:pPr>
            <a:r>
              <a:rPr lang="en-US" sz="2200" dirty="0">
                <a:solidFill>
                  <a:srgbClr val="384653"/>
                </a:solidFill>
                <a:latin typeface="Host Grotesk Medium" pitchFamily="34" charset="0"/>
                <a:ea typeface="Host Grotesk Medium" pitchFamily="34" charset="-122"/>
                <a:cs typeface="Host Grotesk Medium" pitchFamily="34" charset="-120"/>
              </a:rPr>
              <a:t>Employment &amp; Social Media</a:t>
            </a:r>
            <a:endParaRPr lang="en-US" sz="2200" dirty="0"/>
          </a:p>
        </p:txBody>
      </p:sp>
      <p:sp>
        <p:nvSpPr>
          <p:cNvPr id="12" name="Text 10"/>
          <p:cNvSpPr/>
          <p:nvPr/>
        </p:nvSpPr>
        <p:spPr>
          <a:xfrm>
            <a:off x="7685842" y="3644979"/>
            <a:ext cx="5893475" cy="680323"/>
          </a:xfrm>
          <a:prstGeom prst="rect">
            <a:avLst/>
          </a:prstGeom>
          <a:noFill/>
          <a:ln/>
        </p:spPr>
        <p:txBody>
          <a:bodyPr wrap="square" lIns="0" tIns="0" rIns="0" bIns="0" rtlCol="0" anchor="t"/>
          <a:lstStyle/>
          <a:p>
            <a:pPr marL="0" indent="0" algn="l">
              <a:lnSpc>
                <a:spcPts val="2650"/>
              </a:lnSpc>
              <a:buNone/>
            </a:pPr>
            <a:r>
              <a:rPr lang="en-US" sz="1750" dirty="0">
                <a:solidFill>
                  <a:srgbClr val="384653"/>
                </a:solidFill>
                <a:latin typeface="Roboto" pitchFamily="34" charset="0"/>
                <a:ea typeface="Roboto" pitchFamily="34" charset="-122"/>
                <a:cs typeface="Roboto" pitchFamily="34" charset="-120"/>
              </a:rPr>
              <a:t>Unemployed individuals and frequent social media users report more mental health issues.</a:t>
            </a:r>
            <a:endParaRPr lang="en-US" sz="1750" dirty="0"/>
          </a:p>
        </p:txBody>
      </p:sp>
      <p:sp>
        <p:nvSpPr>
          <p:cNvPr id="13" name="Shape 11"/>
          <p:cNvSpPr/>
          <p:nvPr/>
        </p:nvSpPr>
        <p:spPr>
          <a:xfrm>
            <a:off x="793790" y="4809411"/>
            <a:ext cx="6407944" cy="2365772"/>
          </a:xfrm>
          <a:prstGeom prst="roundRect">
            <a:avLst>
              <a:gd name="adj" fmla="val 4027"/>
            </a:avLst>
          </a:prstGeom>
          <a:solidFill>
            <a:srgbClr val="FAF9F5"/>
          </a:solidFill>
          <a:ln w="30480">
            <a:solidFill>
              <a:srgbClr val="BFD3D8"/>
            </a:solidFill>
            <a:prstDash val="solid"/>
          </a:ln>
        </p:spPr>
      </p:sp>
      <p:sp>
        <p:nvSpPr>
          <p:cNvPr id="14" name="Shape 12"/>
          <p:cNvSpPr/>
          <p:nvPr/>
        </p:nvSpPr>
        <p:spPr>
          <a:xfrm>
            <a:off x="824270" y="4839891"/>
            <a:ext cx="6346984" cy="680442"/>
          </a:xfrm>
          <a:prstGeom prst="roundRect">
            <a:avLst>
              <a:gd name="adj" fmla="val 8626"/>
            </a:avLst>
          </a:prstGeom>
          <a:solidFill>
            <a:srgbClr val="D9EDF2"/>
          </a:solidFill>
          <a:ln/>
        </p:spPr>
      </p:sp>
      <p:sp>
        <p:nvSpPr>
          <p:cNvPr id="15" name="Text 13"/>
          <p:cNvSpPr/>
          <p:nvPr/>
        </p:nvSpPr>
        <p:spPr>
          <a:xfrm>
            <a:off x="3827621" y="4963597"/>
            <a:ext cx="340162" cy="425291"/>
          </a:xfrm>
          <a:prstGeom prst="rect">
            <a:avLst/>
          </a:prstGeom>
          <a:noFill/>
          <a:ln/>
        </p:spPr>
        <p:txBody>
          <a:bodyPr wrap="none" lIns="0" tIns="0" rIns="0" bIns="0" rtlCol="0" anchor="t"/>
          <a:lstStyle/>
          <a:p>
            <a:pPr marL="0" indent="0" algn="l">
              <a:lnSpc>
                <a:spcPts val="2650"/>
              </a:lnSpc>
              <a:buNone/>
            </a:pPr>
            <a:r>
              <a:rPr lang="en-US" sz="2650" dirty="0">
                <a:solidFill>
                  <a:srgbClr val="384653"/>
                </a:solidFill>
                <a:latin typeface="Host Grotesk Medium" pitchFamily="34" charset="0"/>
                <a:ea typeface="Host Grotesk Medium" pitchFamily="34" charset="-122"/>
                <a:cs typeface="Host Grotesk Medium" pitchFamily="34" charset="-120"/>
              </a:rPr>
              <a:t>3</a:t>
            </a:r>
            <a:endParaRPr lang="en-US" sz="2650" dirty="0"/>
          </a:p>
        </p:txBody>
      </p:sp>
      <p:sp>
        <p:nvSpPr>
          <p:cNvPr id="16" name="Text 14"/>
          <p:cNvSpPr/>
          <p:nvPr/>
        </p:nvSpPr>
        <p:spPr>
          <a:xfrm>
            <a:off x="1051084" y="5747147"/>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384653"/>
                </a:solidFill>
                <a:latin typeface="Host Grotesk Medium" pitchFamily="34" charset="0"/>
                <a:ea typeface="Host Grotesk Medium" pitchFamily="34" charset="-122"/>
                <a:cs typeface="Host Grotesk Medium" pitchFamily="34" charset="-120"/>
              </a:rPr>
              <a:t>Age &amp; Income</a:t>
            </a:r>
            <a:endParaRPr lang="en-US" sz="2200" dirty="0"/>
          </a:p>
        </p:txBody>
      </p:sp>
      <p:sp>
        <p:nvSpPr>
          <p:cNvPr id="17" name="Text 15"/>
          <p:cNvSpPr/>
          <p:nvPr/>
        </p:nvSpPr>
        <p:spPr>
          <a:xfrm>
            <a:off x="1051084" y="6237565"/>
            <a:ext cx="5893356" cy="680323"/>
          </a:xfrm>
          <a:prstGeom prst="rect">
            <a:avLst/>
          </a:prstGeom>
          <a:noFill/>
          <a:ln/>
        </p:spPr>
        <p:txBody>
          <a:bodyPr wrap="square" lIns="0" tIns="0" rIns="0" bIns="0" rtlCol="0" anchor="t"/>
          <a:lstStyle/>
          <a:p>
            <a:pPr marL="0" indent="0" algn="l">
              <a:lnSpc>
                <a:spcPts val="2650"/>
              </a:lnSpc>
              <a:buNone/>
            </a:pPr>
            <a:r>
              <a:rPr lang="en-US" sz="1750" dirty="0">
                <a:solidFill>
                  <a:srgbClr val="384653"/>
                </a:solidFill>
                <a:latin typeface="Roboto" pitchFamily="34" charset="0"/>
                <a:ea typeface="Roboto" pitchFamily="34" charset="-122"/>
                <a:cs typeface="Roboto" pitchFamily="34" charset="-120"/>
              </a:rPr>
              <a:t>Higher age and lower income are commonly associated with mental health issues.</a:t>
            </a:r>
            <a:endParaRPr lang="en-US" sz="1750" dirty="0"/>
          </a:p>
        </p:txBody>
      </p:sp>
      <p:sp>
        <p:nvSpPr>
          <p:cNvPr id="18" name="Shape 16"/>
          <p:cNvSpPr/>
          <p:nvPr/>
        </p:nvSpPr>
        <p:spPr>
          <a:xfrm>
            <a:off x="7428548" y="4809411"/>
            <a:ext cx="6408063" cy="2365772"/>
          </a:xfrm>
          <a:prstGeom prst="roundRect">
            <a:avLst>
              <a:gd name="adj" fmla="val 4027"/>
            </a:avLst>
          </a:prstGeom>
          <a:solidFill>
            <a:srgbClr val="FAF9F5"/>
          </a:solidFill>
          <a:ln w="30480">
            <a:solidFill>
              <a:srgbClr val="BFD3D8"/>
            </a:solidFill>
            <a:prstDash val="solid"/>
          </a:ln>
        </p:spPr>
      </p:sp>
      <p:sp>
        <p:nvSpPr>
          <p:cNvPr id="19" name="Shape 17"/>
          <p:cNvSpPr/>
          <p:nvPr/>
        </p:nvSpPr>
        <p:spPr>
          <a:xfrm>
            <a:off x="7459027" y="4839891"/>
            <a:ext cx="6347103" cy="680442"/>
          </a:xfrm>
          <a:prstGeom prst="roundRect">
            <a:avLst>
              <a:gd name="adj" fmla="val 8626"/>
            </a:avLst>
          </a:prstGeom>
          <a:solidFill>
            <a:srgbClr val="D9EDF2"/>
          </a:solidFill>
          <a:ln/>
        </p:spPr>
      </p:sp>
      <p:sp>
        <p:nvSpPr>
          <p:cNvPr id="20" name="Text 18"/>
          <p:cNvSpPr/>
          <p:nvPr/>
        </p:nvSpPr>
        <p:spPr>
          <a:xfrm>
            <a:off x="10462498" y="4963597"/>
            <a:ext cx="340162" cy="425291"/>
          </a:xfrm>
          <a:prstGeom prst="rect">
            <a:avLst/>
          </a:prstGeom>
          <a:noFill/>
          <a:ln/>
        </p:spPr>
        <p:txBody>
          <a:bodyPr wrap="none" lIns="0" tIns="0" rIns="0" bIns="0" rtlCol="0" anchor="t"/>
          <a:lstStyle/>
          <a:p>
            <a:pPr marL="0" indent="0" algn="l">
              <a:lnSpc>
                <a:spcPts val="2650"/>
              </a:lnSpc>
              <a:buNone/>
            </a:pPr>
            <a:r>
              <a:rPr lang="en-US" sz="2650" dirty="0">
                <a:solidFill>
                  <a:srgbClr val="384653"/>
                </a:solidFill>
                <a:latin typeface="Host Grotesk Medium" pitchFamily="34" charset="0"/>
                <a:ea typeface="Host Grotesk Medium" pitchFamily="34" charset="-122"/>
                <a:cs typeface="Host Grotesk Medium" pitchFamily="34" charset="-120"/>
              </a:rPr>
              <a:t>4</a:t>
            </a:r>
            <a:endParaRPr lang="en-US" sz="2650" dirty="0"/>
          </a:p>
        </p:txBody>
      </p:sp>
      <p:sp>
        <p:nvSpPr>
          <p:cNvPr id="21" name="Text 19"/>
          <p:cNvSpPr/>
          <p:nvPr/>
        </p:nvSpPr>
        <p:spPr>
          <a:xfrm>
            <a:off x="7685842" y="5747147"/>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384653"/>
                </a:solidFill>
                <a:latin typeface="Host Grotesk Medium" pitchFamily="34" charset="0"/>
                <a:ea typeface="Host Grotesk Medium" pitchFamily="34" charset="-122"/>
                <a:cs typeface="Host Grotesk Medium" pitchFamily="34" charset="-120"/>
              </a:rPr>
              <a:t>Awareness</a:t>
            </a:r>
            <a:endParaRPr lang="en-US" sz="2200" dirty="0"/>
          </a:p>
        </p:txBody>
      </p:sp>
      <p:sp>
        <p:nvSpPr>
          <p:cNvPr id="22" name="Text 20"/>
          <p:cNvSpPr/>
          <p:nvPr/>
        </p:nvSpPr>
        <p:spPr>
          <a:xfrm>
            <a:off x="7685842" y="6237565"/>
            <a:ext cx="5893475" cy="680323"/>
          </a:xfrm>
          <a:prstGeom prst="rect">
            <a:avLst/>
          </a:prstGeom>
          <a:noFill/>
          <a:ln/>
        </p:spPr>
        <p:txBody>
          <a:bodyPr wrap="square" lIns="0" tIns="0" rIns="0" bIns="0" rtlCol="0" anchor="t"/>
          <a:lstStyle/>
          <a:p>
            <a:pPr marL="0" indent="0" algn="l">
              <a:lnSpc>
                <a:spcPts val="2650"/>
              </a:lnSpc>
              <a:buNone/>
            </a:pPr>
            <a:r>
              <a:rPr lang="en-US" sz="1750" dirty="0">
                <a:solidFill>
                  <a:srgbClr val="384653"/>
                </a:solidFill>
                <a:latin typeface="Roboto" pitchFamily="34" charset="0"/>
                <a:ea typeface="Roboto" pitchFamily="34" charset="-122"/>
                <a:cs typeface="Roboto" pitchFamily="34" charset="-120"/>
              </a:rPr>
              <a:t>Lack of awareness ("Don't Know") is more common in younger and middle-income individuals.</a:t>
            </a:r>
            <a:endParaRPr lang="en-US" sz="1750" dirty="0"/>
          </a:p>
        </p:txBody>
      </p:sp>
      <p:sp>
        <p:nvSpPr>
          <p:cNvPr id="23" name="Rectangle: Rounded Corners 22">
            <a:extLst>
              <a:ext uri="{FF2B5EF4-FFF2-40B4-BE49-F238E27FC236}">
                <a16:creationId xmlns:a16="http://schemas.microsoft.com/office/drawing/2014/main" id="{F1FB9FEA-10A8-263B-D884-FC8B8573256F}"/>
              </a:ext>
            </a:extLst>
          </p:cNvPr>
          <p:cNvSpPr/>
          <p:nvPr/>
        </p:nvSpPr>
        <p:spPr>
          <a:xfrm>
            <a:off x="12827132" y="7718156"/>
            <a:ext cx="1679282" cy="371959"/>
          </a:xfrm>
          <a:prstGeom prst="roundRect">
            <a:avLst/>
          </a:prstGeom>
          <a:ln>
            <a:solidFill>
              <a:schemeClr val="bg1">
                <a:lumMod val="85000"/>
              </a:schemeClr>
            </a:solidFill>
          </a:ln>
        </p:spPr>
        <p:style>
          <a:lnRef idx="2">
            <a:schemeClr val="accent1">
              <a:shade val="15000"/>
            </a:schemeClr>
          </a:lnRef>
          <a:fillRef idx="1001">
            <a:schemeClr val="lt2"/>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93790" y="803553"/>
            <a:ext cx="8706564" cy="708779"/>
          </a:xfrm>
          <a:prstGeom prst="rect">
            <a:avLst/>
          </a:prstGeom>
          <a:noFill/>
          <a:ln/>
        </p:spPr>
        <p:txBody>
          <a:bodyPr wrap="none" lIns="0" tIns="0" rIns="0" bIns="0" rtlCol="0" anchor="t"/>
          <a:lstStyle/>
          <a:p>
            <a:pPr marL="0" indent="0" algn="l">
              <a:lnSpc>
                <a:spcPts val="5550"/>
              </a:lnSpc>
              <a:buNone/>
            </a:pPr>
            <a:r>
              <a:rPr lang="en-US" sz="4450" dirty="0">
                <a:solidFill>
                  <a:srgbClr val="2E3C4E"/>
                </a:solidFill>
                <a:latin typeface="Host Grotesk Medium" pitchFamily="34" charset="0"/>
                <a:ea typeface="Host Grotesk Medium" pitchFamily="34" charset="-122"/>
                <a:cs typeface="Host Grotesk Medium" pitchFamily="34" charset="-120"/>
              </a:rPr>
              <a:t>Conclusions &amp; Recommendations</a:t>
            </a:r>
            <a:endParaRPr lang="en-US" sz="4450" dirty="0"/>
          </a:p>
        </p:txBody>
      </p:sp>
      <p:pic>
        <p:nvPicPr>
          <p:cNvPr id="3" name="Image 0" descr="preencoded.png"/>
          <p:cNvPicPr>
            <a:picLocks noChangeAspect="1"/>
          </p:cNvPicPr>
          <p:nvPr/>
        </p:nvPicPr>
        <p:blipFill>
          <a:blip r:embed="rId3"/>
          <a:stretch>
            <a:fillRect/>
          </a:stretch>
        </p:blipFill>
        <p:spPr>
          <a:xfrm>
            <a:off x="793790" y="2306122"/>
            <a:ext cx="6436400" cy="1143000"/>
          </a:xfrm>
          <a:prstGeom prst="rect">
            <a:avLst/>
          </a:prstGeom>
        </p:spPr>
      </p:pic>
      <p:sp>
        <p:nvSpPr>
          <p:cNvPr id="4" name="Text 1"/>
          <p:cNvSpPr/>
          <p:nvPr/>
        </p:nvSpPr>
        <p:spPr>
          <a:xfrm>
            <a:off x="1020604" y="321337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384653"/>
                </a:solidFill>
                <a:latin typeface="Host Grotesk Medium" pitchFamily="34" charset="0"/>
                <a:ea typeface="Host Grotesk Medium" pitchFamily="34" charset="-122"/>
                <a:cs typeface="Host Grotesk Medium" pitchFamily="34" charset="-120"/>
              </a:rPr>
              <a:t>Rising Importance</a:t>
            </a:r>
            <a:endParaRPr lang="en-US" sz="2200" dirty="0"/>
          </a:p>
        </p:txBody>
      </p:sp>
      <p:sp>
        <p:nvSpPr>
          <p:cNvPr id="5" name="Text 2"/>
          <p:cNvSpPr/>
          <p:nvPr/>
        </p:nvSpPr>
        <p:spPr>
          <a:xfrm>
            <a:off x="1020604" y="3703796"/>
            <a:ext cx="5982772" cy="680323"/>
          </a:xfrm>
          <a:prstGeom prst="rect">
            <a:avLst/>
          </a:prstGeom>
          <a:noFill/>
          <a:ln/>
        </p:spPr>
        <p:txBody>
          <a:bodyPr wrap="square" lIns="0" tIns="0" rIns="0" bIns="0" rtlCol="0" anchor="t"/>
          <a:lstStyle/>
          <a:p>
            <a:pPr marL="0" indent="0" algn="l">
              <a:lnSpc>
                <a:spcPts val="2650"/>
              </a:lnSpc>
              <a:buNone/>
            </a:pPr>
            <a:r>
              <a:rPr lang="en-US" sz="1750" dirty="0">
                <a:solidFill>
                  <a:srgbClr val="384653"/>
                </a:solidFill>
                <a:latin typeface="Roboto" pitchFamily="34" charset="0"/>
                <a:ea typeface="Roboto" pitchFamily="34" charset="-122"/>
                <a:cs typeface="Roboto" pitchFamily="34" charset="-120"/>
              </a:rPr>
              <a:t>92% believe mental health is as important as physical health, a significant global shift.</a:t>
            </a:r>
            <a:endParaRPr lang="en-US" sz="1750" dirty="0"/>
          </a:p>
        </p:txBody>
      </p:sp>
      <p:pic>
        <p:nvPicPr>
          <p:cNvPr id="6" name="Image 1" descr="preencoded.png"/>
          <p:cNvPicPr>
            <a:picLocks noChangeAspect="1"/>
          </p:cNvPicPr>
          <p:nvPr/>
        </p:nvPicPr>
        <p:blipFill>
          <a:blip r:embed="rId3"/>
          <a:stretch>
            <a:fillRect/>
          </a:stretch>
        </p:blipFill>
        <p:spPr>
          <a:xfrm>
            <a:off x="7400211" y="1965960"/>
            <a:ext cx="6436400" cy="1143000"/>
          </a:xfrm>
          <a:prstGeom prst="rect">
            <a:avLst/>
          </a:prstGeom>
        </p:spPr>
      </p:pic>
      <p:sp>
        <p:nvSpPr>
          <p:cNvPr id="7" name="Text 3"/>
          <p:cNvSpPr/>
          <p:nvPr/>
        </p:nvSpPr>
        <p:spPr>
          <a:xfrm>
            <a:off x="7627025" y="2873216"/>
            <a:ext cx="3672007" cy="354330"/>
          </a:xfrm>
          <a:prstGeom prst="rect">
            <a:avLst/>
          </a:prstGeom>
          <a:noFill/>
          <a:ln/>
        </p:spPr>
        <p:txBody>
          <a:bodyPr wrap="none" lIns="0" tIns="0" rIns="0" bIns="0" rtlCol="0" anchor="t"/>
          <a:lstStyle/>
          <a:p>
            <a:pPr marL="0" indent="0" algn="l">
              <a:lnSpc>
                <a:spcPts val="2750"/>
              </a:lnSpc>
              <a:buNone/>
            </a:pPr>
            <a:r>
              <a:rPr lang="en-US" sz="2200" dirty="0">
                <a:solidFill>
                  <a:srgbClr val="384653"/>
                </a:solidFill>
                <a:latin typeface="Host Grotesk Medium" pitchFamily="34" charset="0"/>
                <a:ea typeface="Host Grotesk Medium" pitchFamily="34" charset="-122"/>
                <a:cs typeface="Host Grotesk Medium" pitchFamily="34" charset="-120"/>
              </a:rPr>
              <a:t>Public Perception of Science</a:t>
            </a:r>
            <a:endParaRPr lang="en-US" sz="2200" dirty="0"/>
          </a:p>
        </p:txBody>
      </p:sp>
      <p:sp>
        <p:nvSpPr>
          <p:cNvPr id="8" name="Text 4"/>
          <p:cNvSpPr/>
          <p:nvPr/>
        </p:nvSpPr>
        <p:spPr>
          <a:xfrm>
            <a:off x="7627025" y="3363635"/>
            <a:ext cx="5982772" cy="680323"/>
          </a:xfrm>
          <a:prstGeom prst="rect">
            <a:avLst/>
          </a:prstGeom>
          <a:noFill/>
          <a:ln/>
        </p:spPr>
        <p:txBody>
          <a:bodyPr wrap="square" lIns="0" tIns="0" rIns="0" bIns="0" rtlCol="0" anchor="t"/>
          <a:lstStyle/>
          <a:p>
            <a:pPr marL="0" indent="0" algn="l">
              <a:lnSpc>
                <a:spcPts val="2650"/>
              </a:lnSpc>
              <a:buNone/>
            </a:pPr>
            <a:r>
              <a:rPr lang="en-US" sz="1750" dirty="0">
                <a:solidFill>
                  <a:srgbClr val="384653"/>
                </a:solidFill>
                <a:latin typeface="Roboto" pitchFamily="34" charset="0"/>
                <a:ea typeface="Roboto" pitchFamily="34" charset="-122"/>
                <a:cs typeface="Roboto" pitchFamily="34" charset="-120"/>
              </a:rPr>
              <a:t>Disconnect between importance and confidence in science's ability to solve mental health issues.</a:t>
            </a:r>
            <a:endParaRPr lang="en-US" sz="1750" dirty="0"/>
          </a:p>
        </p:txBody>
      </p:sp>
      <p:pic>
        <p:nvPicPr>
          <p:cNvPr id="9" name="Image 2" descr="preencoded.png"/>
          <p:cNvPicPr>
            <a:picLocks noChangeAspect="1"/>
          </p:cNvPicPr>
          <p:nvPr/>
        </p:nvPicPr>
        <p:blipFill>
          <a:blip r:embed="rId3"/>
          <a:stretch>
            <a:fillRect/>
          </a:stretch>
        </p:blipFill>
        <p:spPr>
          <a:xfrm>
            <a:off x="793790" y="5121116"/>
            <a:ext cx="6436400" cy="1143000"/>
          </a:xfrm>
          <a:prstGeom prst="rect">
            <a:avLst/>
          </a:prstGeom>
        </p:spPr>
      </p:pic>
      <p:sp>
        <p:nvSpPr>
          <p:cNvPr id="10" name="Text 5"/>
          <p:cNvSpPr/>
          <p:nvPr/>
        </p:nvSpPr>
        <p:spPr>
          <a:xfrm>
            <a:off x="1020604" y="6028373"/>
            <a:ext cx="3396853" cy="354330"/>
          </a:xfrm>
          <a:prstGeom prst="rect">
            <a:avLst/>
          </a:prstGeom>
          <a:noFill/>
          <a:ln/>
        </p:spPr>
        <p:txBody>
          <a:bodyPr wrap="none" lIns="0" tIns="0" rIns="0" bIns="0" rtlCol="0" anchor="t"/>
          <a:lstStyle/>
          <a:p>
            <a:pPr marL="0" indent="0" algn="l">
              <a:lnSpc>
                <a:spcPts val="2750"/>
              </a:lnSpc>
              <a:buNone/>
            </a:pPr>
            <a:r>
              <a:rPr lang="en-US" sz="2200" dirty="0">
                <a:solidFill>
                  <a:srgbClr val="384653"/>
                </a:solidFill>
                <a:latin typeface="Host Grotesk Medium" pitchFamily="34" charset="0"/>
                <a:ea typeface="Host Grotesk Medium" pitchFamily="34" charset="-122"/>
                <a:cs typeface="Host Grotesk Medium" pitchFamily="34" charset="-120"/>
              </a:rPr>
              <a:t>Diverse Approach Needed</a:t>
            </a:r>
            <a:endParaRPr lang="en-US" sz="2200" dirty="0"/>
          </a:p>
        </p:txBody>
      </p:sp>
      <p:sp>
        <p:nvSpPr>
          <p:cNvPr id="11" name="Text 6"/>
          <p:cNvSpPr/>
          <p:nvPr/>
        </p:nvSpPr>
        <p:spPr>
          <a:xfrm>
            <a:off x="1020604" y="6518791"/>
            <a:ext cx="5982772" cy="680323"/>
          </a:xfrm>
          <a:prstGeom prst="rect">
            <a:avLst/>
          </a:prstGeom>
          <a:noFill/>
          <a:ln/>
        </p:spPr>
        <p:txBody>
          <a:bodyPr wrap="square" lIns="0" tIns="0" rIns="0" bIns="0" rtlCol="0" anchor="t"/>
          <a:lstStyle/>
          <a:p>
            <a:pPr marL="0" indent="0" algn="l">
              <a:lnSpc>
                <a:spcPts val="2650"/>
              </a:lnSpc>
              <a:buNone/>
            </a:pPr>
            <a:r>
              <a:rPr lang="en-US" sz="1750" dirty="0">
                <a:solidFill>
                  <a:srgbClr val="384653"/>
                </a:solidFill>
                <a:latin typeface="Roboto" pitchFamily="34" charset="0"/>
                <a:ea typeface="Roboto" pitchFamily="34" charset="-122"/>
                <a:cs typeface="Roboto" pitchFamily="34" charset="-120"/>
              </a:rPr>
              <a:t>Acknowledge and investigate a wide range of solutions, not just traditional treatments.</a:t>
            </a:r>
            <a:endParaRPr lang="en-US" sz="1750" dirty="0"/>
          </a:p>
        </p:txBody>
      </p:sp>
      <p:pic>
        <p:nvPicPr>
          <p:cNvPr id="12" name="Image 3" descr="preencoded.png"/>
          <p:cNvPicPr>
            <a:picLocks noChangeAspect="1"/>
          </p:cNvPicPr>
          <p:nvPr/>
        </p:nvPicPr>
        <p:blipFill>
          <a:blip r:embed="rId3"/>
          <a:stretch>
            <a:fillRect/>
          </a:stretch>
        </p:blipFill>
        <p:spPr>
          <a:xfrm>
            <a:off x="7400211" y="4780955"/>
            <a:ext cx="6436400" cy="1143000"/>
          </a:xfrm>
          <a:prstGeom prst="rect">
            <a:avLst/>
          </a:prstGeom>
        </p:spPr>
      </p:pic>
      <p:sp>
        <p:nvSpPr>
          <p:cNvPr id="13" name="Text 7"/>
          <p:cNvSpPr/>
          <p:nvPr/>
        </p:nvSpPr>
        <p:spPr>
          <a:xfrm>
            <a:off x="7627025" y="5688211"/>
            <a:ext cx="2839998" cy="354330"/>
          </a:xfrm>
          <a:prstGeom prst="rect">
            <a:avLst/>
          </a:prstGeom>
          <a:noFill/>
          <a:ln/>
        </p:spPr>
        <p:txBody>
          <a:bodyPr wrap="none" lIns="0" tIns="0" rIns="0" bIns="0" rtlCol="0" anchor="t"/>
          <a:lstStyle/>
          <a:p>
            <a:pPr marL="0" indent="0" algn="l">
              <a:lnSpc>
                <a:spcPts val="2750"/>
              </a:lnSpc>
              <a:buNone/>
            </a:pPr>
            <a:r>
              <a:rPr lang="en-US" sz="2200" dirty="0">
                <a:solidFill>
                  <a:srgbClr val="384653"/>
                </a:solidFill>
                <a:latin typeface="Host Grotesk Medium" pitchFamily="34" charset="0"/>
                <a:ea typeface="Host Grotesk Medium" pitchFamily="34" charset="-122"/>
                <a:cs typeface="Host Grotesk Medium" pitchFamily="34" charset="-120"/>
              </a:rPr>
              <a:t>Challenge for Science</a:t>
            </a:r>
            <a:endParaRPr lang="en-US" sz="2200" dirty="0"/>
          </a:p>
        </p:txBody>
      </p:sp>
      <p:sp>
        <p:nvSpPr>
          <p:cNvPr id="14" name="Text 8"/>
          <p:cNvSpPr/>
          <p:nvPr/>
        </p:nvSpPr>
        <p:spPr>
          <a:xfrm>
            <a:off x="7627025" y="6178629"/>
            <a:ext cx="5982772" cy="680323"/>
          </a:xfrm>
          <a:prstGeom prst="rect">
            <a:avLst/>
          </a:prstGeom>
          <a:noFill/>
          <a:ln/>
        </p:spPr>
        <p:txBody>
          <a:bodyPr wrap="square" lIns="0" tIns="0" rIns="0" bIns="0" rtlCol="0" anchor="t"/>
          <a:lstStyle/>
          <a:p>
            <a:pPr marL="0" indent="0" algn="l">
              <a:lnSpc>
                <a:spcPts val="2650"/>
              </a:lnSpc>
              <a:buNone/>
            </a:pPr>
            <a:r>
              <a:rPr lang="en-US" sz="1750" dirty="0">
                <a:solidFill>
                  <a:srgbClr val="384653"/>
                </a:solidFill>
                <a:latin typeface="Roboto" pitchFamily="34" charset="0"/>
                <a:ea typeface="Roboto" pitchFamily="34" charset="-122"/>
                <a:cs typeface="Roboto" pitchFamily="34" charset="-120"/>
              </a:rPr>
              <a:t>Build on what works, investigate all possible solutions, and find next-generation treatments.</a:t>
            </a:r>
            <a:endParaRPr lang="en-US" sz="1750" dirty="0"/>
          </a:p>
        </p:txBody>
      </p:sp>
      <p:sp>
        <p:nvSpPr>
          <p:cNvPr id="15" name="Rectangle: Rounded Corners 14">
            <a:extLst>
              <a:ext uri="{FF2B5EF4-FFF2-40B4-BE49-F238E27FC236}">
                <a16:creationId xmlns:a16="http://schemas.microsoft.com/office/drawing/2014/main" id="{A8E08F73-1EF7-1052-B0B5-35A4878D3B5E}"/>
              </a:ext>
            </a:extLst>
          </p:cNvPr>
          <p:cNvSpPr/>
          <p:nvPr/>
        </p:nvSpPr>
        <p:spPr>
          <a:xfrm>
            <a:off x="12827132" y="7718156"/>
            <a:ext cx="1679282" cy="371959"/>
          </a:xfrm>
          <a:prstGeom prst="roundRect">
            <a:avLst/>
          </a:prstGeom>
          <a:ln>
            <a:solidFill>
              <a:schemeClr val="bg1">
                <a:lumMod val="85000"/>
              </a:schemeClr>
            </a:solidFill>
          </a:ln>
        </p:spPr>
        <p:style>
          <a:lnRef idx="2">
            <a:schemeClr val="accent1">
              <a:shade val="15000"/>
            </a:schemeClr>
          </a:lnRef>
          <a:fillRef idx="1001">
            <a:schemeClr val="lt2"/>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9F5">
              <a:alpha val="85000"/>
            </a:srgbClr>
          </a:solidFill>
          <a:ln/>
        </p:spPr>
      </p:sp>
      <p:sp>
        <p:nvSpPr>
          <p:cNvPr id="4" name="Text 1"/>
          <p:cNvSpPr/>
          <p:nvPr/>
        </p:nvSpPr>
        <p:spPr>
          <a:xfrm>
            <a:off x="793790" y="2952512"/>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2E3C4E"/>
                </a:solidFill>
                <a:latin typeface="Host Grotesk Medium" pitchFamily="34" charset="0"/>
                <a:ea typeface="Host Grotesk Medium" pitchFamily="34" charset="-122"/>
                <a:cs typeface="Host Grotesk Medium" pitchFamily="34" charset="-120"/>
              </a:rPr>
              <a:t>Thank You!</a:t>
            </a:r>
            <a:endParaRPr lang="en-US" sz="4450" dirty="0"/>
          </a:p>
        </p:txBody>
      </p:sp>
      <p:sp>
        <p:nvSpPr>
          <p:cNvPr id="5" name="Text 2"/>
          <p:cNvSpPr/>
          <p:nvPr/>
        </p:nvSpPr>
        <p:spPr>
          <a:xfrm>
            <a:off x="793790" y="4001453"/>
            <a:ext cx="13042821" cy="680323"/>
          </a:xfrm>
          <a:prstGeom prst="rect">
            <a:avLst/>
          </a:prstGeom>
          <a:noFill/>
          <a:ln/>
        </p:spPr>
        <p:txBody>
          <a:bodyPr wrap="square" lIns="0" tIns="0" rIns="0" bIns="0" rtlCol="0" anchor="t"/>
          <a:lstStyle/>
          <a:p>
            <a:pPr marL="0" indent="0" algn="l">
              <a:lnSpc>
                <a:spcPts val="2650"/>
              </a:lnSpc>
              <a:buNone/>
            </a:pPr>
            <a:r>
              <a:rPr lang="en-US" sz="1750" dirty="0">
                <a:solidFill>
                  <a:srgbClr val="384653"/>
                </a:solidFill>
                <a:latin typeface="Roboto" pitchFamily="34" charset="0"/>
                <a:ea typeface="Roboto" pitchFamily="34" charset="-122"/>
                <a:cs typeface="Roboto" pitchFamily="34" charset="-120"/>
              </a:rPr>
              <a:t>Thank you for your attention and engagement in this crucial discussion on mental health. Your commitment to understanding these insights is invaluable.</a:t>
            </a:r>
            <a:endParaRPr lang="en-US" sz="1750" dirty="0"/>
          </a:p>
        </p:txBody>
      </p:sp>
      <p:sp>
        <p:nvSpPr>
          <p:cNvPr id="6" name="Text 3"/>
          <p:cNvSpPr/>
          <p:nvPr/>
        </p:nvSpPr>
        <p:spPr>
          <a:xfrm>
            <a:off x="793790" y="4936927"/>
            <a:ext cx="13042821" cy="340162"/>
          </a:xfrm>
          <a:prstGeom prst="rect">
            <a:avLst/>
          </a:prstGeom>
          <a:noFill/>
          <a:ln/>
        </p:spPr>
        <p:txBody>
          <a:bodyPr wrap="none" lIns="0" tIns="0" rIns="0" bIns="0" rtlCol="0" anchor="t"/>
          <a:lstStyle/>
          <a:p>
            <a:pPr marL="0" indent="0" algn="l">
              <a:lnSpc>
                <a:spcPts val="2650"/>
              </a:lnSpc>
              <a:buNone/>
            </a:pP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523</TotalTime>
  <Words>1121</Words>
  <Application>Microsoft Office PowerPoint</Application>
  <PresentationFormat>Custom</PresentationFormat>
  <Paragraphs>123</Paragraphs>
  <Slides>14</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Roboto</vt:lpstr>
      <vt:lpstr>Arial</vt:lpstr>
      <vt:lpstr>Host Grotesk Medium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Aastha Sehgal</dc:creator>
  <cp:lastModifiedBy>Aastha Sehgal</cp:lastModifiedBy>
  <cp:revision>4</cp:revision>
  <dcterms:created xsi:type="dcterms:W3CDTF">2025-08-06T18:48:46Z</dcterms:created>
  <dcterms:modified xsi:type="dcterms:W3CDTF">2026-06-05T08:22:34Z</dcterms:modified>
</cp:coreProperties>
</file>